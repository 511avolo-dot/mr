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مجموعة الذيابي للمقاولات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9144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تطوير منظومة المشتريات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362895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المشاكل ومعالجتها · المنظومة المقترحة · المطلوب من الإدارة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62895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مرفوع إلى سعادة المدير العام والإدارة العليا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F6F3ED"/>
                </a:solidFill>
                <a:latin typeface="Neo Sans Arabic"/>
              </a:rPr>
              <a:t>إعداد: إدارة العمليات والمشتريات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محتوى العرض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ثلاثة أجزاء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642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المشاكل ومعالجتها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سبعة محاور: كل مشكلة ومعالجتها المقترحة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260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المنظومة المقترحة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السياسات · الدورة الكاملة · مصفوفة الصلاحيات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976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074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التنفيذ والقرار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خارطة الطريق · مؤشرات النجاح · القرارات المطلوبة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الملخص التنفيذي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الفكرة في أربع نقاط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90107" y="1463040"/>
            <a:ext cx="114300" cy="13716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9E2B25"/>
                </a:solidFill>
                <a:latin typeface="Neo Sans Arabic"/>
              </a:rPr>
              <a:t>المشكلة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لا توجد قناة موحّدة ولا دورة مُلزِمة ولا صلاحيات واضحة للمشتريات.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7287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20195" y="1463040"/>
            <a:ext cx="114300" cy="13716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0167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C57A0C"/>
                </a:solidFill>
                <a:latin typeface="Neo Sans Arabic"/>
              </a:rPr>
              <a:t>الأثر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ازدواج إنفاق، وتأخّر توريد، وتآكل ثقة الموردين.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90107" y="3017520"/>
            <a:ext cx="114300" cy="137160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الحل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قناة واحدة + دورة موثّقة + ثلاثة عروض لكل شراء + صلاحيات واضحة.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7287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620195" y="3017520"/>
            <a:ext cx="114300" cy="13716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0167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0E2A38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إقرار السياسات وخارطة الطريق من الإدارة العليا.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أبرز التحديات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مرتّبة حسب الأهمية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1567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ازدواجية التوريد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1567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الشراء المباشر خارج المشتريات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1567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التحويل المالي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1567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الإفراط في صفة «عاجل»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الطلبات المعلّقة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غياب الدورة والصلاحيات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تسعير المناقصات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قصر الياسمين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الوضع الراهن بالأرقام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من واقع نظام المشتريات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أمر شراء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في السجل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9A24B"/>
                </a:solidFill>
                <a:latin typeface="Neo Sans Arabic"/>
              </a:rPr>
              <a:t>405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ألف ريال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إجمالي قيمة الأوامر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68٪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طلبات متأخرة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36 من 53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7796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7796" y="3291839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3516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3516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 التأخير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أقصى تأخير 52 يوماً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38218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8218" y="3291839"/>
            <a:ext cx="3698138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938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938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مورد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38 مستخدماً فعلياً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291839"/>
            <a:ext cx="3698138" cy="889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57A0C"/>
                </a:solidFill>
                <a:latin typeface="Neo Sans Arabic"/>
              </a:rPr>
              <a:t>23٪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لم تكتمل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ملغاة أو قيد المراجعة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لوحة حالة الأوامر والأولوية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توزيع أوامر الشراء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6655" y="1234440"/>
            <a:ext cx="576072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حسب الحالة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764792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مُسلَّم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388620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83080"/>
            <a:ext cx="3886200" cy="3840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83080"/>
            <a:ext cx="3794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350008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قيد المراجعة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68296"/>
            <a:ext cx="388620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27522" y="2368296"/>
            <a:ext cx="715878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3242" y="2368296"/>
            <a:ext cx="624438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935224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ملغى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53512"/>
            <a:ext cx="388620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32058" y="2953512"/>
            <a:ext cx="511342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77778" y="2953512"/>
            <a:ext cx="419902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520440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مُسلَّم جزئياً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38728"/>
            <a:ext cx="388620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86200" y="3538728"/>
            <a:ext cx="457200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3538728"/>
            <a:ext cx="365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105656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قيد التوريد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123944"/>
            <a:ext cx="388620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86200" y="4123944"/>
            <a:ext cx="457200" cy="38404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1920" y="4123944"/>
            <a:ext cx="365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1234440"/>
            <a:ext cx="54864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حسب الأولوية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1764792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متوسط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1783080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55080" y="1783080"/>
            <a:ext cx="3794760" cy="38404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1783080"/>
            <a:ext cx="370332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2350008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عالي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2368296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45037" y="2368296"/>
            <a:ext cx="3104803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90757" y="2368296"/>
            <a:ext cx="3013363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2935224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عاجل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2953512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07482" y="2953512"/>
            <a:ext cx="2242358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3202" y="2953512"/>
            <a:ext cx="2150918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55080" y="3794760"/>
            <a:ext cx="5394960" cy="1143000"/>
          </a:xfrm>
          <a:prstGeom prst="rect">
            <a:avLst/>
          </a:prstGeom>
          <a:solidFill>
            <a:srgbClr val="F7E9E7"/>
          </a:solidFill>
          <a:ln w="19050">
            <a:solidFill>
              <a:srgbClr val="9E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3931920"/>
            <a:ext cx="5029200" cy="9144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500" b="1">
                <a:solidFill>
                  <a:srgbClr val="9E2B25"/>
                </a:solidFill>
                <a:latin typeface="Neo Sans Arabic"/>
              </a:rPr>
              <a:t>مفارقة «العاجل»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0E2A38"/>
                </a:solidFill>
                <a:latin typeface="Neo Sans Arabic"/>
              </a:rPr>
              <a:t>من 13 طلباً «عاجلاً»: تأخّر 8 وأُلغي 1 — أي أن صفة العاجل نفسها لا تضمن السرعة.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12 طلباً لم تكتمل (ملغاة/قيد المراجعة)، وثلثا الأوامر متأخرة — مؤشر على خلل في الدورة.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أين يضيع الوقت؟ تشخيص التأخير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سبب التأخير الأبرز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44٪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من الطلبات المتأخرة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سببها التحويل المالي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من أصل 688 بسبب المالية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57A0C"/>
                </a:solidFill>
                <a:latin typeface="Neo Sans Arabic"/>
              </a:rPr>
              <a:t>15.6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زمن التوريد الكلي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6655" y="3429000"/>
            <a:ext cx="576072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أوامر الشراء حسب القطاع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679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الصيانة والتشغيل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86200"/>
            <a:ext cx="827532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3251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الإنشاءات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434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05400" y="4343400"/>
            <a:ext cx="3718560" cy="310896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51120" y="4343400"/>
            <a:ext cx="362712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7823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الإدارة العامة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006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40" y="4800600"/>
            <a:ext cx="2788920" cy="310896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4800600"/>
            <a:ext cx="269748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2395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النقليات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578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84440" y="5257800"/>
            <a:ext cx="1239520" cy="3108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30160" y="5257800"/>
            <a:ext cx="114808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نحو نصف أيام التأخير سببها التحويل المالي — ما يؤكد أولوية إلزام المالية بمدة زمنية.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أولاً: تنظيم الطلبات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بالبريد والواتساب بصفة «عاجل» بلا نموذج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نموذج طلب رسمي موحّد موقّع، ولا يُعتدّ بغيره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الإفراط في «عاجل» وأغلبه لا يُنفّذ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«عاجل» باعتماد خطّي مبرّر وسقف شهري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معلّقة دون إجراء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بتّ 3 أيام، ولوحة متابعة، وإغلاق المنتفي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غموض الدورة ومن يعتمد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دورة موثّقة ومصفوفة صلاحيات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مواصفات ناقصة وقنوات متفرّقة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إرفاق صورة/علامة تجارية، وقناة رسمية واحدة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ثانياً: ازدواجية التوريد والشراء المباشر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 تُورّد صنفاً ورّدته الصيانة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إشعار فوري بالاكتفاء، ومنع توريد موازٍ بعد أمر الشراء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مباشر خارج 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كل شراء وتوريد عبر المشتريات حصراً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من موردين بعينهم دون رجوع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إدراجهم في قائمة معتمدة تُدار مركزياً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صنف متوفّر بالمخزون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فحص المستودع إلزامي قبل الطلب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ثالثاً: تسعير المناقصات وسجل الأسعار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إعادة تجميع الأسعار لكل مناقصة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سجل أسعار مرجعي للمناقصات فقط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تاريخ لأسعار المواد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تغذية السجل آلياً من النظام المالي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تسعير المناقصات بوقت ضيّق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تخصيص مدة كافية متّفق عليها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الخلط بين السجل وعروض الشراء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الشراء دائماً بثلاثة عروض، والسجل للمناقصات فقط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رابعاً: الموردون والعلاقات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تآكل ثقة الموردين بطلباتنا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ضبط «العاجل» والالتزام بإغلاق الطلبات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شهرية متكررة بلا عقود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عقود إطارية سنوية بأسعار ثابتة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الطلبات المستديمة تُسعّر كل مرة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ثلاثة عروض أول مرة ثم مورد ثابت بعقد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مشاكل الموردين موزّعة على الإدارات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حصرها لدى المشتريات لتوحيد التعامل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مديونيات لدى الموردين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كشف حساب للتسوية ضمن خطة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خامساً: العلاقة مع الصيانة والتشغيل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إطار منظّم للعلاقة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اتفاقية تحدّد المسارات الأربعة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جهة تنسيق واحدة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منسّق من الصيانة ملمّ بالمشتريات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مشرفو الموقع خارج المظلة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تبعيتهم للمشتريات إشرافياً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آليات مختلفة لكل 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آلية موحّدة لكل نوع 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سادساً: العهد والموارد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عهدة قصر الياسمين على المندوب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نقلها لمسؤول المشروع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تعثّر طلبات البنية التحتية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عقد إطاري وسقف محدّد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عهدة نقدية للمشتريات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عهدة مستديمة بضوابط صرف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وسيلة توريد للمواقع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سائق تابع للمشتريات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سابعاً: التكامل مع الإدارة المالية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بطء التحويل للموردين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ملزمة (3–5 أيام) ودفعات أسبوعية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تغذية لسجل المناقصات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ربطه بفواتير النظام المالي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مسار طوارئ محكوم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مسار بموافقة مسبقة وسقف محدّد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سياسات المشتريات الحاكمة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37035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7044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القناة الموحّدة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كل شراء عبر المشتريات حصراً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2978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2696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2706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ثلاثة عروض إلزامية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لأي شراء مهما كان حجمه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8358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مصفوفة الصلاحيات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الاعتماد حسب القيمة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7316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37035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7044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الدورة المستندية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مسار موحّد من الاحتياج للإغلاق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2978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62696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2706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اعتماد الموردين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قائمة معتمدة وتقييم دوري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8358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العقود الإطارية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للطلبات المتكررة والمستديمة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7316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737035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7044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سجل أسعار المناقصات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للمناقصات فقط لا للشراء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2978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2696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2706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مسار الطوارئ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بموافقة مسبقة موثّقة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88358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المشتريات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عهدة مستديمة بضوابط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7316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737035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7044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الاستثناءات الموثّقة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النثريات والبنية التحتية بسقف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22978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62696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2706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المطابقة قبل الصرف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طلب وأمر وفاتورة واستلام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88358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النزاهة والتوثيق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سرية العروض وأرشفة كاملة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الدورة الكاملة للمشتريات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نشوء الاحتياج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6963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طلب رسمي بالمواصفات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6551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فحص المستودع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6139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طلب ثلاثة عروض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المقارنة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697480"/>
            <a:ext cx="2121408" cy="8686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الاعتماد حسب الصلاحية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6963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أمر الشراء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6551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الاستلام والمطابقة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6139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54731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4731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الصرف للمورد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95728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الإغلاق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ثلاثة عروض إلزامية في كل دورة — ولا توريد خارج هذا المسار.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إجراءات الدورة — المرحلة والمسؤول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87287.5" y="1371600"/>
          <a:ext cx="5547206" cy="4681728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1733502"/>
                <a:gridCol w="2311336"/>
                <a:gridCol w="1502368"/>
              </a:tblGrid>
              <a:tr h="585216"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المرحلة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الإجراء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المسؤول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1) الاحتياج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تعبئة طلب الشراء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الطالبة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2) التسجيل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ترقيم ومراجعة الطلب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3) فحص المخزون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التأكد من عدم توفّره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المستودعات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4) طلب العروض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مخاطبة ثلاثة موردين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5) المقارنة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جدول مفاضلة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6) التوصية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ترشيح الأنسب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7) الاعتماد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الموافقة بالصلاحية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صاحب الصلاحية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71600"/>
          <a:ext cx="5547206" cy="4681728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1733502"/>
                <a:gridCol w="2311336"/>
                <a:gridCol w="1502368"/>
              </a:tblGrid>
              <a:tr h="585216"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المرحلة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الإجراء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المسؤول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8) أمر الشراء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إصدار أمر الشراء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9) الإشعار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إشعار المورد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10) التوريد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متابعة التسليم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11) الاستلام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فحص المطابقة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المستودعات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12) المطابقة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مطابقة المستندات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13) الصرف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تحويل المستحق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المالية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14) الإغلاق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إقفال وأرشفة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مصفوفة الصلاحيات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الأول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29471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2623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25,000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مدير المشتريات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الثاني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0439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100,000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المشتريات والمالية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الثالث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45103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8255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الرابع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أكثر من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 ولجنة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0E2A38"/>
                </a:solidFill>
                <a:latin typeface="Neo Sans Arabic"/>
              </a:rPr>
              <a:t>العروض الثلاثة قاعدة ثابتة في كل المستويات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الاستثناءات (باعتماد مدير المشتريات): النثريات — البنية التحتية — المتعاقد عليه إطارياً — الطوارئ.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خارطة الطريق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أول 30 يوماً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7316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4476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النموذج الموحّد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مصفوفة الصلاحيات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حصر الشراء بالمشتريات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التزام المالية الزمني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حتى 90 يوماً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0138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سجل أسعار المناقصات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العقود الإطارية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عهدة وسائق للمشتريات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معالجة الملفات العالقة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المدى البعيد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نظام مشتريات 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لوحات متابعة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تقييم الموردين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استراتيجية التوريد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مؤشرات النجاح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64592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64592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7796" y="164592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زمن دورة الشراء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7796" y="230428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تقليصه إلى النصف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64592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64592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8218" y="164592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الالتزام بالدورة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8218" y="230428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95٪ فأكثر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64592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64592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164592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الالتزام بالعروض الثلاثة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30428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95٪ فأكثر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7796" y="342900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7796" y="342900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7796" y="342900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الطلبات المعلّقة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7796" y="408736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إلى الصفر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38218" y="342900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8218" y="342900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8218" y="342900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التزام المالية بالتحويل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8218" y="408736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90٪ فأكثر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42900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42900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2900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استجابة الموردين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8736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اتجاه متصاعد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20 /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القرارات المطلوبة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0167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حصر كل شراء عبر المشتريات حصراً.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السياسات والدورة الكاملة.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إقرار مصفوفة الصلاحيات والعروض الثلاثة.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إلزام المالية بمدة التحويل.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0167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7327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إنشاء سجل أسعار للمناقصات.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تفويض العقود الإطارية.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70167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07327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معالجة العهد وموارد المشتريات.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خارطة الطريق والمؤشرات.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21 / 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62895" cy="1005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Neo Sans Arabic"/>
              </a:rPr>
              <a:t>منظومة واضحة تحمي المال وتنظّم التوريد.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62895" cy="7315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وفريق المشتريات جاهز للتنفيذ فور الاعتماد.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0">
                <a:solidFill>
                  <a:srgbClr val="F6F3ED"/>
                </a:solidFill>
                <a:latin typeface="Neo Sans Arabic"/>
              </a:rPr>
              <a:t>مع وافر الاحترام والتقدير — إدارة العمليات والمشتريات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