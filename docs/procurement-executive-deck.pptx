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2895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11535" cy="10972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تطوير وحوكمة منظومة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800" b="0">
                <a:solidFill>
                  <a:srgbClr val="C9A24B"/>
                </a:solidFill>
                <a:latin typeface="Arial"/>
              </a:rPr>
              <a:t>تشخيص الوضع الراهن — وحلول عملية لكل تحدٍّ — وخارطة طريق للاعتماد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13716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وثيقة قرار تنفيذية مرفوعة إلى سعادة المدير العام والإدارة العليا</a:t>
            </a:r>
          </a:p>
          <a:p>
            <a:pPr rtl="1" algn="ctr">
              <a:spcAft>
                <a:spcPts val="600"/>
              </a:spcAft>
            </a:pPr>
            <a:r>
              <a:rPr sz="1400" b="0">
                <a:solidFill>
                  <a:srgbClr val="F6F3ED"/>
                </a:solidFill>
                <a:latin typeface="Arial"/>
              </a:rPr>
              <a:t>إعداد: إدارة العمليات والمشتريات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السياق والهدف من هذه الوثيقة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لماذا الآن؟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600"/>
              </a:spcAft>
            </a:pPr>
            <a:r>
              <a:rPr sz="1600" b="1">
                <a:solidFill>
                  <a:srgbClr val="0E2A38"/>
                </a:solidFill>
                <a:latin typeface="Arial"/>
              </a:rPr>
              <a:t>•  إدارة المشتريات هي القلب الذي يربط المشاريع والصيانة والمالية والمستودعات والموردين؛ وأي خلل في تنظيمها ينعكس على الجميع.</a:t>
            </a:r>
          </a:p>
          <a:p>
            <a:pPr rtl="1" algn="r">
              <a:spcAft>
                <a:spcPts val="1600"/>
              </a:spcAft>
            </a:pPr>
            <a:r>
              <a:rPr sz="1600" b="0">
                <a:solidFill>
                  <a:srgbClr val="3A4650"/>
                </a:solidFill>
                <a:latin typeface="Arial"/>
              </a:rPr>
              <a:t>•  تراكمت ملاحظات متكرّرة في آلية العمل تؤثر على كفاءة الإنفاق وانتظام التوريد وعلاقتنا بالموردين.</a:t>
            </a:r>
          </a:p>
          <a:p>
            <a:pPr rtl="1" algn="r">
              <a:spcAft>
                <a:spcPts val="1600"/>
              </a:spcAft>
            </a:pPr>
            <a:r>
              <a:rPr sz="1600" b="0">
                <a:solidFill>
                  <a:srgbClr val="3A4650"/>
                </a:solidFill>
                <a:latin typeface="Arial"/>
              </a:rPr>
              <a:t>•  الهدف ليس تحميل أي إدارة اللوم، بل وضع سياسات ثابتة ومُلزِمة تنظّم العلاقة وتحمي مصلحة الشركة.</a:t>
            </a:r>
          </a:p>
          <a:p>
            <a:pPr rtl="1" algn="r">
              <a:spcAft>
                <a:spcPts val="1600"/>
              </a:spcAft>
            </a:pPr>
            <a:r>
              <a:rPr sz="1600" b="0">
                <a:solidFill>
                  <a:srgbClr val="3A4650"/>
                </a:solidFill>
                <a:latin typeface="Arial"/>
              </a:rPr>
              <a:t>•  المسار المقترح: مناقشة هذه النقاط مع الإدارات ذات العلاقة، ثم رفعها للإدارة العليا لاعتماد القرار المناسب لكل بند.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اعتماد هذه الوثيقة أساساً للنقاش المؤسسي ثم إقرار سياسة ثابتة لكل بند فيها.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الملخص التنفيذي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الصورة الكاملة في صفحة واحدة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5929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2807" y="1417320"/>
            <a:ext cx="101600" cy="123444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5181447" cy="10515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9E2B25"/>
                </a:solidFill>
                <a:latin typeface="Arial"/>
              </a:rPr>
              <a:t>جوهر المشكلة</a:t>
            </a:r>
          </a:p>
          <a:p>
            <a:pPr rtl="1" algn="r">
              <a:spcAft>
                <a:spcPts val="6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غياب دورة مستندية مُلزِمة وقناة موحّدة للطلبات وصلاحيات واضحة وسجل أسعار مرجعي.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417320"/>
            <a:ext cx="55929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78615" y="1417320"/>
            <a:ext cx="101600" cy="1234440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1527048"/>
            <a:ext cx="5181447" cy="10515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C57A0C"/>
                </a:solidFill>
                <a:latin typeface="Arial"/>
              </a:rPr>
              <a:t>الأثر</a:t>
            </a:r>
          </a:p>
          <a:p>
            <a:pPr rtl="1" algn="r">
              <a:spcAft>
                <a:spcPts val="6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ازدواج في الإنفاق، وتأخّر في التوريد، وتآكل في ثقة الموردين، وضعف في الرقابة على التكلفة.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34640"/>
            <a:ext cx="55929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2807" y="2834640"/>
            <a:ext cx="101600" cy="123444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44368"/>
            <a:ext cx="5181447" cy="10515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2E6B3E"/>
                </a:solidFill>
                <a:latin typeface="Arial"/>
              </a:rPr>
              <a:t>الحل</a:t>
            </a:r>
          </a:p>
          <a:p>
            <a:pPr rtl="1" algn="r">
              <a:spcAft>
                <a:spcPts val="6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مأسسة المشتريات: قناة واحدة إلزامية + دورة موثّقة + مصفوفة صلاحيات + سجل أسعار + عقود إطارية.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834640"/>
            <a:ext cx="5592927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78615" y="2834640"/>
            <a:ext cx="101600" cy="123444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2944368"/>
            <a:ext cx="5181447" cy="10515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800" b="1">
                <a:solidFill>
                  <a:srgbClr val="0E2A38"/>
                </a:solidFill>
                <a:latin typeface="Arial"/>
              </a:rPr>
              <a:t>المطلوب</a:t>
            </a:r>
          </a:p>
          <a:p>
            <a:pPr rtl="1" algn="r">
              <a:spcAft>
                <a:spcPts val="6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إقرار السياسات الثابتة وخارطة الطريق (أول 30 يوماً / حتى 90 يوماً / المدى البعيد).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الانتقال بالمشتريات من العمل التفاعلي اليومي إلى منظومة محوكمة تحمي الربحية وتضبط التوريد.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لوحة التحديات المرصودة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مصنّفة حسب درجة الأثر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371600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65815" y="1371600"/>
            <a:ext cx="960120" cy="6583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65815" y="1371600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حرج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7015" y="1371600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ازدواجية التوريد (شراء صنف ورّدته الصيانة فعلاً)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2157984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65815" y="2157984"/>
            <a:ext cx="960120" cy="6583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65815" y="2157984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حرج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2157984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الشراء المباشر خارج إدارة المشتريات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944368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65815" y="2944368"/>
            <a:ext cx="960120" cy="6583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65815" y="2944368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حرج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7015" y="2944368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بطء التحويل المالي للموردين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3730752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65815" y="3730752"/>
            <a:ext cx="960120" cy="658368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65815" y="3730752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مرتفع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015" y="3730752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الإفراط في صفة «عاجل» وتآكل ثقة الموردين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4517136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65815" y="4517136"/>
            <a:ext cx="960120" cy="658368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65815" y="4517136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مرتفع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7015" y="4517136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الطلبات المعلّقة دون اعتماد أو تحويل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371600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44287" y="1371600"/>
            <a:ext cx="960120" cy="658368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4287" y="1371600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مرتفع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1371600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تكرار التسعير وغياب سجل أسعار موحّد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157984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44287" y="2157984"/>
            <a:ext cx="960120" cy="658368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4287" y="2157984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مرتفع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2157984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غياب مصفوفة صلاحيات ودورة مستندية واضحة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44368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44287" y="2944368"/>
            <a:ext cx="960120" cy="65836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4287" y="2944368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متوسط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2944368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عهدة قصر الياسمين على غير المنفّذ الفعلي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30752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44287" y="3730752"/>
            <a:ext cx="960120" cy="65836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4287" y="3730752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متوسط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3730752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تعثّر طلبات البنية التحتية المتكررة الصغيرة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17136"/>
            <a:ext cx="5638647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44287" y="4517136"/>
            <a:ext cx="960120" cy="65836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4287" y="4517136"/>
            <a:ext cx="960120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متوسط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517136"/>
            <a:ext cx="4541367" cy="65836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250" b="1">
                <a:solidFill>
                  <a:srgbClr val="0E2A38"/>
                </a:solidFill>
                <a:latin typeface="Arial"/>
              </a:rPr>
              <a:t>غياب عقود إطارية للطلبات الشهرية المتكررة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لماذا يستحق الأمر قراراً عاجلاً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من ملاحظة تشغيلية إلى أثر على الربحية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15507" y="1371600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444752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ازدواجية التوريد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دفعٌ مزدوج لنفس الاحتياج، والتزام مالي لم يكن ضرورياً.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1371600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91315" y="1371600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7015" y="1444752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تكرار التسعير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إهدار وقت الفريق، وتفاوت سعر الصنف الواحد بين المشاريع.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50592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5507" y="2450592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523744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الشراء المباشر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فقدان قوة التفاوض ووفورات الشراء المجمّع لدى مورد واحد.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2450592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91315" y="2450592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7015" y="2523744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«العاجل» الزائف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أسعار أعلى مقابل السرعة، وفتور تدريجي في استجابة الموردين.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29584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5507" y="3529584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3602736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الطلبات المعلّقة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تأخّر التوريد وتعطّل الأعمال في المواقع.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3529584"/>
            <a:ext cx="5592927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91315" y="3529584"/>
            <a:ext cx="889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015" y="3602736"/>
            <a:ext cx="5272887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بطء التحويل المالي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توقّف الموردين عن التوريد، وتحميل المشتريات تبعة التأخير.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المشتريات ليست مركز صرف فحسب، بل مصدر وفر وحماية للتكلفة متى أُحسِن تنظيمها.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أولاً: تنظيم الطلبات والدورة المستندية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المشكلة ← الأثر ← الحل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25880"/>
          <a:ext cx="11460173" cy="5047488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841248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نموذج طلب شراء موحّد إلزامي موقّع من صاحب الصلاحية؛ ولا يُعتدّ بأي طلب خارجه.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غياب الالتزام والتتبّع وإرباك التنفيذ.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طلبات تصل عبر البريد والواتساب بصفة «عاجل» دون نموذج رسمي.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قصر صفة «عاجل» على ما يعتمده مدير الإدارة الطالبة خطياً بمبرّر، مع سقف عددي.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فتور استجابة الموردين وارتفاع الأسعار.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الإفراط في وصف الطلبات بالعاجل وأغلبها لا يُستكمل بأمر شراء.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مدة معيارية للبتّ (3 أيام عمل)، ولوحة متابعة بحالة كل طلب، وإغلاق المنتفي.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تأخّر التوريد وتعطّل الأعمال.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طلبات تبقى معلّقة دون اعتماد أو تحويل للمورد لفترات طويلة.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دورة مستندية موثّقة، ومصفوفة صلاحيات تحدّد الموقّع والمعتمِد لكل قيمة.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عشوائية وتأخير وتكرار للإجراءات.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غموض في الدورة المستندية ومن يوقّع ومن يعتمد.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إلزام إرفاق صورة البند أو اسم العلامة التجارية، واعتماد قناة رسمية واحدة للمستندات.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أخطاء في التوريد وإعادة عمل.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طلبات بمواصفات ناقصة وتشتّت قنوات المستندات.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خريطة الدورة المستندية الموحّدة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مسار واحد إلزامي من الاحتياج حتى الإغلاق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5967" y="16002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5967" y="16002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نشوء الاحتياج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36963" y="16002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15555" y="16002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5555" y="16002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طلب شراء رسمي بالمواصفات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6551" y="16002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5143" y="1600200"/>
            <a:ext cx="2121408" cy="960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143" y="16002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فحص رصيد المستودع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6139" y="16002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4731" y="1600200"/>
            <a:ext cx="2121408" cy="960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4731" y="16002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الرجوع لسجل الأسعار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16002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002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6002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عروض ومقارنة (عند اللزوم)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560320"/>
            <a:ext cx="2121408" cy="8686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95967" y="3429000"/>
            <a:ext cx="2121408" cy="9601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5967" y="34290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الاعتماد حسب الصلاحية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6963" y="34290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15555" y="34290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5555" y="34290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إصدار أمر الشراء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6551" y="34290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5143" y="34290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5143" y="34290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التحويل المالي ضمن المدة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6139" y="34290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4731" y="34290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4731" y="34290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التوريد والاستلام والمطابقة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429000"/>
            <a:ext cx="259003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B747C"/>
                </a:solidFill>
                <a:latin typeface="Arial"/>
              </a:rPr>
              <a:t>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2121408" cy="96012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429000"/>
            <a:ext cx="2121408" cy="9601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الإغلاق وتحديث سجل الأسعار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منع أي توريد خارج هذا المسار، ووقف أي توريد موازٍ بعد إصدار أمر الشراء.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ثانياً: ازدواجية التوريد والشراء المباشر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حماية الإنفاق وتوحيد القناة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60173" cy="4800600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960120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إشعار فوري من الإدارة الطالبة عند انتفاء الحاجة، ومنع أي توريد موازٍ بعد إصدار أمر الشراء.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التزام مالي مزدوج وإرباك المورد وإهدار الجهد.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تُكلَّف المشتريات بالتوريد ثم يتبيّن أن الصيانة وردّت الصنف من مورد أجل.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حصر كل شراء وتوريد لقطاعات المجموعة عبر المشتريات حصراً بقرار من الإدارة العليا.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فقدان الرقابة وضعف التفاوض وتعدّد قنوات المورد.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تنفيذ عمليات شراء مباشرة خارج إدارة المشتريات.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إدراج هؤلاء الموردين ضمن قائمة معتمدة موحّدة تُدار عبر المشتريات.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ازدواج الحسابات وصعوبة التدقيق.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التعامل مع موردين بعينهم والشراء منهم مباشرة دون الرجوع للمشتريات.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جعل فحص رصيد المستودع خطوة إلزامية قبل أي طلب شراء.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شراء أصناف متوفّرة أصلاً في المخزون.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عدم ربط الطلب برصيد المستودع قبل الشراء.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ثالثاً: مصفوفة الصلاحيات والاعتماد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أرقام مقترحة قابلة للاعتماد</a:t>
            </a:r>
          </a:p>
        </p:txBody>
      </p:sp>
      <p:sp>
        <p:nvSpPr>
          <p:cNvPr id="8" name="Rectangle 7"/>
          <p:cNvSpPr/>
          <p:nvPr/>
        </p:nvSpPr>
        <p:spPr>
          <a:xfrm>
            <a:off x="9588764" y="1463040"/>
            <a:ext cx="2182307" cy="54864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8764" y="1463040"/>
            <a:ext cx="2182307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الشريحة الأولى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88764" y="2066544"/>
            <a:ext cx="2182307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6196" y="2157984"/>
            <a:ext cx="2127443" cy="24688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حتى 5,000 ريال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المعتمِد</a:t>
            </a:r>
          </a:p>
          <a:p>
            <a:pPr rtl="1" algn="ctr">
              <a:spcAft>
                <a:spcPts val="8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مدير المشتريات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الإجراء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دون عروض، ضمن السقف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729" y="1463040"/>
            <a:ext cx="2182307" cy="54864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729" y="1463040"/>
            <a:ext cx="2182307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الشريحة الثانية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6729" y="2066544"/>
            <a:ext cx="2182307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161" y="2157984"/>
            <a:ext cx="2127443" cy="24688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حتى 25,000 ريال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المعتمِد</a:t>
            </a:r>
          </a:p>
          <a:p>
            <a:pPr rtl="1" algn="ctr">
              <a:spcAft>
                <a:spcPts val="8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مدير المشتريات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الإجراء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عرضان كحد أدنى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4694" y="1463040"/>
            <a:ext cx="2182307" cy="548640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694" y="1463040"/>
            <a:ext cx="2182307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الشريحة الثالثة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4694" y="2066544"/>
            <a:ext cx="2182307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2126" y="2157984"/>
            <a:ext cx="2127443" cy="24688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حتى 100,000 ريال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المعتمِد</a:t>
            </a:r>
          </a:p>
          <a:p>
            <a:pPr rtl="1" algn="ctr">
              <a:spcAft>
                <a:spcPts val="8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المشتريات والمالية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الإجراء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ثلاثة عروض ومقارنة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12659" y="1463040"/>
            <a:ext cx="2182307" cy="54864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2659" y="1463040"/>
            <a:ext cx="2182307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الشريحة الرابعة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2659" y="2066544"/>
            <a:ext cx="2182307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0091" y="2157984"/>
            <a:ext cx="2127443" cy="24688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أكثر من 100,000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المعتمِد</a:t>
            </a:r>
          </a:p>
          <a:p>
            <a:pPr rtl="1" algn="ctr">
              <a:spcAft>
                <a:spcPts val="8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المدير العام ولجنة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الإجراء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ثلاثة عروض وتفاوض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1463040"/>
            <a:ext cx="2182307" cy="54864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1463040"/>
            <a:ext cx="2182307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مسار الطوارئ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" y="2066544"/>
            <a:ext cx="2182307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157984"/>
            <a:ext cx="2127443" cy="24688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800"/>
              </a:spcAft>
            </a:pPr>
            <a:r>
              <a:rPr sz="1500" b="1">
                <a:solidFill>
                  <a:srgbClr val="0E2A38"/>
                </a:solidFill>
                <a:latin typeface="Arial"/>
              </a:rPr>
              <a:t>حالات حرجة فعلاً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المعتمِد</a:t>
            </a:r>
          </a:p>
          <a:p>
            <a:pPr rtl="1" algn="ctr">
              <a:spcAft>
                <a:spcPts val="8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موافقة مسبقة موثّقة</a:t>
            </a:r>
          </a:p>
          <a:p>
            <a:pPr rtl="1" algn="ctr">
              <a:spcAft>
                <a:spcPts val="1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الإجراء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سقف محدّد مع تبرير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26280"/>
            <a:ext cx="11460175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0E2A38"/>
                </a:solidFill>
                <a:latin typeface="Arial"/>
              </a:rPr>
              <a:t>كل اعتماد يتبعه إصدار أمر شراء موثّق وأرشفته في سجل الاعتمادات للرجوع والتدقيق.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إقرار حد أدنى (5,000 ريال) يُشترى باعتماد مدير المشتريات دون عروض، واعتماد بقية الشرائح.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رابعاً: التسعير وسجل الأسعار المرجعي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إنهاء تكرار التسعير ودعم تسعير المشاريع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60173" cy="4572000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914400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إنشاء سجل أسعار مرجعي موحّد يُرجَع إليه قبل أي استفسار من المورد.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إهدار الوقت وتفاوت سعر الصنف الواحد.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إعادة تسعير البنود نفسها لكل مشروع رغم التزويد بالأسعار سابقاً.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تغذية السجل آلياً من فواتير الشراء في النظام المالي وتحديثه دورياً.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غياب مرجع للمقارنة والرقابة على الأسعار.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لا يوجد تاريخ لأسعار المواد رغم الشراء المستمر.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تحديد مدة معيارية كافية لتسعير المنافسات تُتّفق عليها مسبقاً.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أسعار غير دقيقة وضياع فرص التقديم.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تسعير منافسات المشاريع تحت ضغط وقت غير كافٍ.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الرجوع للسجل أولاً، ثم تحديث العروض للبنود المتغيّرة فقط.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استهلاك علاقة المورد بكثرة طلبات التسعير.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تكرار مخاطبة الموردين لكل تسعيرة جديدة.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خامساً: الموردون والعلاقات التجارية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استعادة الثقة وضبط التعامل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25880"/>
          <a:ext cx="11460173" cy="5047488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841248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ضبط صفة «العاجل» والالتزام بإغلاق الطلبات يعيدان جدية الموردين.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تراجع الاستجابة وجودة العروض.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تآكل مصداقية طلباتنا لدى الموردين وفتور تجاوبهم.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إبرام عقود إطارية سنوية بأسعار ثابتة مع الموردين الرئيسيين.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أسعار متذبذبة وتفاوض متكرّر.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الطلبات الشهرية المتكررة وكبيرة الحجم بلا عقود.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توفير ثلاثة عروض للمرة الأولى فقط، ثم اعتماد مورد ثابت.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بطء متكرّر في التوريد.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الطلبات المستديمة لقطاعات المجموعة تُسعّر كل مرة.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تسليم المشتريات حصراً بالمشاكل القائمة والشخص المسؤول لتوحيد التعامل.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تضارب وتكرار في معالجة المشاكل.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مشاكل مع الموردين موزّعة على إدارات متعددة.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2E6B3E"/>
                          </a:solidFill>
                          <a:latin typeface="Arial"/>
                        </a:rPr>
                        <a:t>تسليم المشتريات كشف حساب بالمديونية لتسويتها ضمن خطة.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0">
                          <a:solidFill>
                            <a:srgbClr val="3A4650"/>
                          </a:solidFill>
                          <a:latin typeface="Arial"/>
                        </a:rPr>
                        <a:t>مخاطر ائتمانية وتعليق توريد.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00" b="1">
                          <a:solidFill>
                            <a:srgbClr val="0E2A38"/>
                          </a:solidFill>
                          <a:latin typeface="Arial"/>
                        </a:rPr>
                        <a:t>مديونيات على الصيانة والتشغيل لدى الموردين.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سادساً: تنظيم العلاقة مع الصيانة والتشغيل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إطار واضح للأدوار والمسارات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11460173" cy="4800600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960120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اتفاقية تنظيمية تحدّد المسارات: الطلبات العادية والعاجلة والموردون ومقاولو الباطن.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تداخل المسؤوليات والاحتكاك.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غياب إطار منظّم للعلاقة بين الإدارتين.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تعيين منسّق إداري من الصيانة والتشغيل على دراية بآلية المشتريات.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تشتّت التواصل وتعدّد المرجعيات.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لا توجد جهة تنسيق واحدة من الصيانة والتشغيل.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جعل مشرفي الشراء في المواقع تابعين إشرافياً لإدارة المشتريات.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شراء ميداني غير منضبط.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مشرفو الشراء بالموقع خارج مظلة المشتريات.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توضيح آلية موحّدة لكل نوع طلب يلتزم بها الطرفان.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ارتباك في التنفيذ وتأخير.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اختلاف آلية التعامل حسب نوع الطلب.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سابعاً: العهد والموارد التشغيلية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معالجة الملفات العالقة وتمكين المشتريات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17320"/>
          <a:ext cx="11460173" cy="4800600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960120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نقل عهدة قصر الياسمين إلى مسؤول المشروع باعتباره المنفّذ الفعلي للشراء.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عدم تطابق المسؤولية مع المنفّذ.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عهدة قصر الياسمين مسجّلة على مندوب المشتريات رغم أن الشراء عبر المشروع.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اعتماد طلبات البنية التحتية دون عروض ضمن سقف محدّد ومورد إطاري.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تأخّر احتياجات متكررة منخفضة القيمة.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طلبات البنية التحتية أسبوعية صغيرة متكررة وليست تحت سقف مورد واحد.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تخصيص عهدة مالية مستديمة للمشتريات باعتماد مديرها للحالات الصغيرة.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بطء تنفيذ البنود البسيطة العاجلة.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لا توجد عهدة نقدية لدى المشتريات.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2E6B3E"/>
                          </a:solidFill>
                          <a:latin typeface="Arial"/>
                        </a:rPr>
                        <a:t>تعيين سائق تابع لإدارة المشتريات لتوريد الطلبات إلى المواقع.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0">
                          <a:solidFill>
                            <a:srgbClr val="3A4650"/>
                          </a:solidFill>
                          <a:latin typeface="Arial"/>
                        </a:rPr>
                        <a:t>تأخّر التسليم والاعتماد على الغير.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250" b="1">
                          <a:solidFill>
                            <a:srgbClr val="0E2A38"/>
                          </a:solidFill>
                          <a:latin typeface="Arial"/>
                        </a:rPr>
                        <a:t>لا توجد وسيلة توريد مخصّصة للمواقع.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ثامناً: التكامل مع الإدارة المالية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إزالة اختناق التحويل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3" cy="4206240"/>
        </p:xfrm>
        <a:graphic>
          <a:graphicData uri="http://schemas.openxmlformats.org/drawingml/2006/table">
            <a:tbl rtl="1">
              <a:tblPr firstRow="1" bandRow="1">
                <a:tableStyleId>{5C22544A-7EE6-4342-B048-85BDC9FD1C3A}</a:tableStyleId>
              </a:tblPr>
              <a:tblGrid>
                <a:gridCol w="4167336"/>
                <a:gridCol w="2936077"/>
                <a:gridCol w="4356760"/>
              </a:tblGrid>
              <a:tr h="1051560"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الحل المقترح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الأثر على العمل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المشكلة / الوضع الحالي</a:t>
                      </a:r>
                    </a:p>
                  </a:txBody>
                  <a:tcPr anchor="ctr" marL="63500" marR="63500" marT="38100" marB="38100">
                    <a:solidFill>
                      <a:srgbClr val="0E2A3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2E6B3E"/>
                          </a:solidFill>
                          <a:latin typeface="Arial"/>
                        </a:rPr>
                        <a:t>التزام زمني للتحويل (3–5 أيام عمل، و24 ساعة للطوارئ المعتمدة) ودفعات أسبوعية مجمّعة.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3A4650"/>
                          </a:solidFill>
                          <a:latin typeface="Arial"/>
                        </a:rPr>
                        <a:t>تعطّل الموردين وتحميل المشتريات تبعة التأخير.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1">
                          <a:solidFill>
                            <a:srgbClr val="0E2A38"/>
                          </a:solidFill>
                          <a:latin typeface="Arial"/>
                        </a:rPr>
                        <a:t>بطء استجابة الإدارة المالية لتحويلات الموردين.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2E6B3E"/>
                          </a:solidFill>
                          <a:latin typeface="Arial"/>
                        </a:rPr>
                        <a:t>ربط فواتير الشراء بسجل الأسعار آلياً لتغذيته أولاً بأول.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3A4650"/>
                          </a:solidFill>
                          <a:latin typeface="Arial"/>
                        </a:rPr>
                        <a:t>استمرار تكرار التسعير وغياب المرجع.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1">
                          <a:solidFill>
                            <a:srgbClr val="0E2A38"/>
                          </a:solidFill>
                          <a:latin typeface="Arial"/>
                        </a:rPr>
                        <a:t>عدم تغذية سجل الأسعار من النظام المالي.</a:t>
                      </a:r>
                    </a:p>
                  </a:txBody>
                  <a:tcPr anchor="ctr" marL="76200" marR="76200" marT="50800" marB="50800">
                    <a:solidFill>
                      <a:srgbClr val="EFEAD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2E6B3E"/>
                          </a:solidFill>
                          <a:latin typeface="Arial"/>
                        </a:rPr>
                        <a:t>اعتماد مسار طوارئ مالي بموافقة مسبقة موثّقة وسقف محدّد.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0">
                          <a:solidFill>
                            <a:srgbClr val="3A4650"/>
                          </a:solidFill>
                          <a:latin typeface="Arial"/>
                        </a:rPr>
                        <a:t>استخدام صفة «العاجل» للالتفاف على الإجراءات.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/>
                      <a:r>
                        <a:rPr sz="1300" b="1">
                          <a:solidFill>
                            <a:srgbClr val="0E2A38"/>
                          </a:solidFill>
                          <a:latin typeface="Arial"/>
                        </a:rPr>
                        <a:t>غياب مسار طوارئ مالي محكوم.</a:t>
                      </a:r>
                    </a:p>
                  </a:txBody>
                  <a:tcPr anchor="ctr"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نموذج الحوكمة المقترح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المشتريات قناة واحدة محكومة بأربع ركائز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047" y="1325880"/>
            <a:ext cx="3657600" cy="64008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1325880"/>
            <a:ext cx="3657600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الإدارة العليا / المدير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1527" y="1993392"/>
            <a:ext cx="54864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B747C"/>
                </a:solidFill>
                <a:latin typeface="Arial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1287" y="2377440"/>
            <a:ext cx="4389120" cy="7772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1287" y="2377440"/>
            <a:ext cx="4389120" cy="7772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600" b="1">
                <a:solidFill>
                  <a:srgbClr val="0E2A38"/>
                </a:solidFill>
                <a:latin typeface="Arial"/>
              </a:rPr>
              <a:t>إدارة المشتريات — القناة الموحّدة الإلزامية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74175" y="3611880"/>
            <a:ext cx="2651760" cy="731520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4175" y="3611880"/>
            <a:ext cx="2651760" cy="7315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الإدارات الطالبة (المشاريع والصيانة)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8036" y="3611880"/>
            <a:ext cx="2651760" cy="731520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8036" y="3611880"/>
            <a:ext cx="2651760" cy="7315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الإدارة المالية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1898" y="3611880"/>
            <a:ext cx="2651760" cy="731520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1898" y="3611880"/>
            <a:ext cx="2651760" cy="7315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المستودعات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2651760" cy="731520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11880"/>
            <a:ext cx="2651760" cy="73152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الموردون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26280"/>
            <a:ext cx="11460175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الركائز الحاكمة الأربع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331" y="4892040"/>
            <a:ext cx="272788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331" y="4892040"/>
            <a:ext cx="2727883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0E2A38"/>
                </a:solidFill>
                <a:latin typeface="Arial"/>
              </a:rPr>
              <a:t>دورة مستندية موثّقة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4892040"/>
            <a:ext cx="272788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3007" y="4892040"/>
            <a:ext cx="2727883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0E2A38"/>
                </a:solidFill>
                <a:latin typeface="Arial"/>
              </a:rPr>
              <a:t>مصفوفة صلاحيات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683" y="4892040"/>
            <a:ext cx="272788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3683" y="4892040"/>
            <a:ext cx="2727883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0E2A38"/>
                </a:solidFill>
                <a:latin typeface="Arial"/>
              </a:rPr>
              <a:t>سجل أسعار مرجعي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892040"/>
            <a:ext cx="272788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2727883" cy="5486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1">
                <a:solidFill>
                  <a:srgbClr val="0E2A38"/>
                </a:solidFill>
                <a:latin typeface="Arial"/>
              </a:rPr>
              <a:t>قائمة موردين معتمدة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اعتماد المشتريات قناةً موحّدة لكل القطاعات، محكومةً بالركائز الأربع.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خارطة طريق التنفيذ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مراحل زمنية واضحة وقابلة للقياس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2556" y="1371600"/>
            <a:ext cx="3667658" cy="86868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2556" y="1426464"/>
            <a:ext cx="3667658" cy="7772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أول 30 يوماً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F6F3ED"/>
                </a:solidFill>
                <a:latin typeface="Arial"/>
              </a:rPr>
              <a:t>تثبيت الحوكمة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2556" y="2286000"/>
            <a:ext cx="366765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2284" y="2423160"/>
            <a:ext cx="3439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النموذج الموحّد للطلبات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مصفوفة الصلاحيات بقيمها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حصر الشراء عبر المشتريات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التزام المالية الزمني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إيقاف ازدواجية التوريد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738" y="1371600"/>
            <a:ext cx="3667658" cy="868680"/>
          </a:xfrm>
          <a:prstGeom prst="rect">
            <a:avLst/>
          </a:prstGeom>
          <a:solidFill>
            <a:srgbClr val="C5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7738" y="1426464"/>
            <a:ext cx="3667658" cy="7772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حتى 90 يوماً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F6F3ED"/>
                </a:solidFill>
                <a:latin typeface="Arial"/>
              </a:rPr>
              <a:t>البناء المؤسسي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738" y="2286000"/>
            <a:ext cx="366765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7466" y="2423160"/>
            <a:ext cx="3439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سجل الأسعار من المالية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العقود الإطارية للمتكرر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عهدة وسائق للمشتريات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معالجة قصر الياسمين والبنية التحتية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تعيين منسّق الصيانة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371600"/>
            <a:ext cx="3667658" cy="86868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426464"/>
            <a:ext cx="3667658" cy="77724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المدى البعيد</a:t>
            </a:r>
          </a:p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F6F3ED"/>
                </a:solidFill>
                <a:latin typeface="Arial"/>
              </a:rPr>
              <a:t>الاستدامة والتميّز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86000"/>
            <a:ext cx="366765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423160"/>
            <a:ext cx="3439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نظام مشتريات موحّد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لوحات متابعة الأداء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تقييم دوري للموردين</a:t>
            </a:r>
          </a:p>
          <a:p>
            <a:pPr rtl="1" algn="r">
              <a:spcAft>
                <a:spcPts val="1400"/>
              </a:spcAft>
            </a:pPr>
            <a:r>
              <a:rPr sz="1400" b="0">
                <a:solidFill>
                  <a:srgbClr val="3A4650"/>
                </a:solidFill>
                <a:latin typeface="Arial"/>
              </a:rPr>
              <a:t>•  تطوير استراتيجية التوريد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المصادقة على المراحل وتكليف فريق تنفيذي بمتابعة الإنجاز ورفع تقارير دورية.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مؤشرات قياس النجاح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ما لا يُقاس لا يُمكن تطويره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4630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3036" y="14630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3036" y="14630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زمن دورة الشراء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4476" y="19933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من الطلب حتى أمر الشراء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4476" y="24231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تقليصه الى النصف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2978" y="14630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2978" y="14630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978" y="14630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التزام الطلبات بالدورة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4418" y="19933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نسبة الطلبات الرسمية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4418" y="24231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لا تقل عن 95٪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4630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14630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4630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إغلاق الطلبات في وقتها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9933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دون معلّقات متراكمة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4231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لا معلّقات متأخرة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3036" y="30632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43036" y="30632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3036" y="30632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الوفر المحقّق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476" y="35935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مقارنةً بسجل الأسعار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476" y="40233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يُقاس كل ربع سنة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2978" y="30632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2978" y="30632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2978" y="30632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التزام المالية بالتحويل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4418" y="35935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ضمن المدة المعتمدة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4418" y="40233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لا تقل عن 90٪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063240"/>
            <a:ext cx="37286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063240"/>
            <a:ext cx="3728618" cy="4572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063240"/>
            <a:ext cx="3728618" cy="45720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استجابة الموردين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593592"/>
            <a:ext cx="3545738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>
                <a:solidFill>
                  <a:srgbClr val="3A4650"/>
                </a:solidFill>
                <a:latin typeface="Arial"/>
              </a:rPr>
              <a:t>نسبة الرد على العروض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3545738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1">
                <a:solidFill>
                  <a:srgbClr val="2E6B3E"/>
                </a:solidFill>
                <a:latin typeface="Arial"/>
              </a:rPr>
              <a:t>اتجاه متصاعد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925312"/>
            <a:ext cx="11643055" cy="713232"/>
          </a:xfrm>
          <a:prstGeom prst="rect">
            <a:avLst/>
          </a:prstGeom>
          <a:solidFill>
            <a:srgbClr val="14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841175" y="5925312"/>
            <a:ext cx="76200" cy="71323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71032"/>
            <a:ext cx="11277295" cy="640080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200"/>
              </a:spcAft>
            </a:pPr>
            <a:r>
              <a:rPr sz="1100" b="1">
                <a:solidFill>
                  <a:srgbClr val="C9A24B"/>
                </a:solidFill>
                <a:latin typeface="Arial"/>
              </a:rPr>
              <a:t>القرار / السياسة المطلوبة</a:t>
            </a:r>
          </a:p>
          <a:p>
            <a:pPr rtl="1" algn="r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اعتماد هذه المؤشرات ضمن تقرير أداء ربع سنوي يُرفع للإدارة العليا.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295" y="182880"/>
            <a:ext cx="2971800" cy="7772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0"/>
              </a:spcAft>
            </a:pPr>
            <a:r>
              <a:rPr sz="1400" b="1">
                <a:solidFill>
                  <a:srgbClr val="C9A24B"/>
                </a:solidFill>
                <a:latin typeface="Arial"/>
              </a:rPr>
              <a:t>مجموعة الذيابي للمقاولات</a:t>
            </a:r>
          </a:p>
          <a:p>
            <a:pPr rtl="1"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إدارة المشتريات وسلسلة الإمداد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"/>
            <a:ext cx="8595360" cy="5486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القرارات المطلوبة من الإدارة العليا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76656"/>
            <a:ext cx="8595360" cy="36576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Arial"/>
              </a:rPr>
              <a:t>ثمانية قرارات تُنهي التكرار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14173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23015" y="14173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23015" y="14173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9895" y="14173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حصر كل شراء وتوريد لقطاعات المجموعة عبر المشتريات حصراً.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4173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47207" y="14173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7207" y="14173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14173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اعتماد النموذج الموحّد للطلبات ومصفوفة الصلاحيات.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23317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23015" y="23317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23015" y="23317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3317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إلزام الإدارة المالية بمدة زمنية للتحويل ومسار طوارئ.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3317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47207" y="23317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7207" y="23317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3317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إنشاء سجل أسعار مرجعي يُغذّى من النظام المالي.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0167" y="32461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23015" y="32461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23015" y="32461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895" y="32461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تفويض إبرام عقود إطارية للطلبات المتكررة والبنية التحتية.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2461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47207" y="32461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7207" y="32461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32461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نقل عهدة قصر الياسمين إلى مسؤول المشروع.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0167" y="41605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3015" y="41605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23015" y="41605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9895" y="41605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تخصيص عهدة مالية وسائق لإدارة المشتريات.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160520"/>
            <a:ext cx="559292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47207" y="4160520"/>
            <a:ext cx="640080" cy="749808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47207" y="4160520"/>
            <a:ext cx="640080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4160520"/>
            <a:ext cx="4815687" cy="749808"/>
          </a:xfrm>
          <a:prstGeom prst="rect">
            <a:avLst/>
          </a:prstGeom>
          <a:noFill/>
        </p:spPr>
        <p:txBody>
          <a:bodyPr wrap="square" anchor="ctr" lIns="76200" rIns="76200" tIns="38100" bIns="38100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50" b="1">
                <a:solidFill>
                  <a:srgbClr val="0E2A38"/>
                </a:solidFill>
                <a:latin typeface="Arial"/>
              </a:rPr>
              <a:t>اعتماد خارطة الطريق ومؤشرات الأداء.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37376"/>
            <a:ext cx="1828800" cy="292608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47C"/>
                </a:solidFill>
                <a:latin typeface="Arial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100584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الحوكمة ليست قيداً على العمل، بل ضمانة استمراره وكفاءته.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997135" cy="9144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0">
                <a:solidFill>
                  <a:srgbClr val="C9A24B"/>
                </a:solidFill>
                <a:latin typeface="Arial"/>
              </a:rPr>
              <a:t>لسنا بصدد معالجة أخطاء فردية، بل تأسيس منظومة تحمي مال الشركة وتنظّم توريدها وتعيد لها ثقة موردِيها.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600" b="0">
                <a:solidFill>
                  <a:srgbClr val="F6F3ED"/>
                </a:solidFill>
                <a:latin typeface="Arial"/>
              </a:rPr>
              <a:t>وفريق المشتريات على أتم الاستعداد للتنفيذ فور اعتماد القرارات.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anchor="t" lIns="76200" rIns="76200" tIns="38100" bIns="38100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400" b="0">
                <a:solidFill>
                  <a:srgbClr val="6B747C"/>
                </a:solidFill>
                <a:latin typeface="Arial"/>
              </a:rPr>
              <a:t>مع وافر الاحترام والتقدير — إدارة العمليات والمشتريات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