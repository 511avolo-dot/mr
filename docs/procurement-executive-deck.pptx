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مجموعة الذيابي للمقاولات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9144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تطوير منظومة المشتريات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362895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المشاكل ومعالجتها · المنظومة المقترحة · المطلوب من الإدارة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2895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مرفوع إلى سعادة المدير العام والإدارة العليا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F6F3ED"/>
                </a:solidFill>
                <a:latin typeface="Neo Sans Arabic"/>
              </a:rPr>
              <a:t>إعداد: إدارة العمليات والمشتريات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محتوى العرض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ثلاثة أجزاء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الوضع والمشاكل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أرقام النظام، ثم سبعة محاور بمعالجاتها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المنظومة المقترحة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السياسات · الدورة الكاملة · مصفوفة الصلاحيات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976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074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التنفيذ والقرار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خارطة الطريق · مؤشرات النجاح · القرارات المطلوبة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الملخص التنفيذي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الفكرة في أربع نقاط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20195" y="1463040"/>
            <a:ext cx="114300" cy="13716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9E2B25"/>
                </a:solidFill>
                <a:latin typeface="Neo Sans Arabic"/>
              </a:rPr>
              <a:t>المشكلة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لا توجد قناة موحّدة ولا دورة مُلزِمة ولا صلاحيات واضحة للمشتريات.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90107" y="1463040"/>
            <a:ext cx="114300" cy="13716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C57A0C"/>
                </a:solidFill>
                <a:latin typeface="Neo Sans Arabic"/>
              </a:rPr>
              <a:t>الأثر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تأخّر تسليم 74٪ من الأوامر، و10 عالقة لدى المالية، وتآكل ثقة الموردين.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20195" y="3017520"/>
            <a:ext cx="114300" cy="13716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الحل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قناة واحدة + دورة موثّقة + ثلاثة عروض لكل شراء + صلاحيات واضحة.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0107" y="3017520"/>
            <a:ext cx="114300" cy="13716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0E2A38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إقرار السياسات وخارطة الطريق من الإدارة العليا.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أبرز التحديات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مرتّبة حسب الأهمية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1567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ازدواجية التوريد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1567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الشراء المباشر خارج المشتريات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1567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التحويل المالي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1567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الإفراط في صفة «عاجل»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الطلبات المعلّقة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غياب الدورة والصلاحيات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تسعير المناقصات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قصر الياسمين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الوضع الراهن بالأرقام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 واقع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أمر شراء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52 نشطاً · 5 ملغاة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351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ألف ريال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قيمة المشتريات الفعلية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أوامر 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15.4٪ من النشطة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7796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7796" y="3291839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3516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20.4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 التأخير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أقصى 59 يوماً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38218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8218" y="3291839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938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938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عالقة لدى المالية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بانتظار التحويل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291839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26.2٪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سُلّمت في موعدها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11 من 42 مُسلَّماً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(57 أمراً)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لوحة حالة الأوامر والتأخير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توزيع أوامر الشراء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الحالة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2680" y="1764792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 كامل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342900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350008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لدى المالية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368296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37320" y="2368296"/>
            <a:ext cx="838200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3040" y="2368296"/>
            <a:ext cx="746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2935224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ملغى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953512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0" y="2953512"/>
            <a:ext cx="457200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953512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تقادم الأوامر المتأخرة (8)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1764792"/>
            <a:ext cx="19202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0 – 7 أيام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33375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69720" y="1783080"/>
            <a:ext cx="2225040" cy="3840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15440" y="1783080"/>
            <a:ext cx="213360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2350008"/>
            <a:ext cx="19202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8 – 14 يوم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368296"/>
            <a:ext cx="33375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82240" y="2368296"/>
            <a:ext cx="1112520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27960" y="2368296"/>
            <a:ext cx="102108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935224"/>
            <a:ext cx="19202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15 – 30 يوم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953512"/>
            <a:ext cx="33375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69720" y="2953512"/>
            <a:ext cx="2225040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15440" y="2953512"/>
            <a:ext cx="213360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3520440"/>
            <a:ext cx="19202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أكثر من 30 يوم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538728"/>
            <a:ext cx="33375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538728"/>
            <a:ext cx="3337560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3538728"/>
            <a:ext cx="324612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977639"/>
            <a:ext cx="5394960" cy="914400"/>
          </a:xfrm>
          <a:prstGeom prst="rect">
            <a:avLst/>
          </a:prstGeom>
          <a:solidFill>
            <a:srgbClr val="F7E9E7"/>
          </a:solidFill>
          <a:ln w="19050">
            <a:solidFill>
              <a:srgbClr val="9E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078224"/>
            <a:ext cx="5029200" cy="7315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500" b="1">
                <a:solidFill>
                  <a:srgbClr val="9E2B25"/>
                </a:solidFill>
                <a:latin typeface="Neo Sans Arabic"/>
              </a:rPr>
              <a:t>تأخير متفاقم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0E2A38"/>
                </a:solidFill>
                <a:latin typeface="Neo Sans Arabic"/>
              </a:rPr>
              <a:t>من 8 أوامر متأخرة: 5 تجاوزت 15 يوماً، و3 منها أكثر من 30 يوماً.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لم يُسلَّم في موعده سوى 26.2٪ من الأوامر، و10 أوامر عالقة لدى المالية — خلل في زمن الدورة.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(57 أمراً)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أين يضيع الوقت؟ تشخيص التأخير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مكامن التأخير الأبرز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أوامر عالقة لدى المالية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بانتظار التحويل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20.4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 التأخير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أقصى 59 يوماً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26.2٪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سُلّمت في موعدها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11 من 42 مُسلَّماً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6655" y="3429000"/>
            <a:ext cx="576072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أوامر الشراء حسب القطاع (عدداً)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679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الصيانة والتشغيل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86200"/>
            <a:ext cx="82753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3251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الإنشاءات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37019" y="4343400"/>
            <a:ext cx="3286941" cy="310896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2739" y="4343400"/>
            <a:ext cx="3195501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7823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الإدارة العامة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6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35832" y="4800600"/>
            <a:ext cx="2988128" cy="310896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81552" y="4800600"/>
            <a:ext cx="2896688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2395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النقليات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578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27522" y="5257800"/>
            <a:ext cx="896438" cy="3108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73242" y="5257800"/>
            <a:ext cx="804998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تتركّز الأوامر في الصيانة والتشغيل (28 من 52)، و10 عالقة لدى المالية — أولوية: إلزام المالية بمدة التحويل.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(57 أمراً)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أولاً: تنظيم الطلبات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بالبريد والواتساب بصفة «عاجل» بلا نموذج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نموذج طلب رسمي موحّد موقّع، ولا يُعتدّ بغيره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الإفراط في «عاجل» وأغلبه لا يُنفّذ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«عاجل» باعتماد خطّي مبرّر وسقف شهري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معلّقة دون إجراء (خاصة لدى المالية)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بتّ محددة، وتصعيد متدرّج: مدير الإدارة ثم الإدارة العليا عند التجاوز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الدورة ومن يعتمد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دورة موثّقة ومصفوفة صلاحيات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مواصفات ناقصة وقنوات متفرّقة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إرفاق صورة/علامة تجارية، وقناة رسمية واحدة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ثانياً: ازدواجية التوريد والشراء المباشر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 تُورّد صنفاً ورّدته الصيانة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إشعار فوري بالاكتفاء، ومنع توريد موازٍ بعد أمر الشراء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مباشر خارج 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كل شراء وتوريد عبر المشتريات حصراً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من موردين بعينهم دون رجوع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إدراجهم في قائمة معتمدة تُدار مركزياً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صنف متوفّر بالمخزون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فحص المستودع إلزامي قبل الطلب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ثالثاً: تسعير المناقصات وسجل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إعادة تجميع الأسعار يدوياً لكل مناقصة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الرجوع لسجل الأسعار المرجعي المُفعّل في النظام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السجل يحتاج تغذية مستمرة بالأسعار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مؤتمت داخل النظام؛ ويُثرى بربط فواتير النظام المالي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ضيق وقت تسعير المناقصات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تخصيص مدة معيارية كافية متّفق عليها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إنجاز 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منظومة فعلية مبنية ومُشغّلة داخل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4899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24899" y="1371600"/>
            <a:ext cx="2773603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0619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70619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صنف مسجّل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579 مُسعّراً · 6 بلا سعر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7287" y="1371600"/>
            <a:ext cx="2773603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864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سجل سعري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تاريخ أسعار مرجعي للمناقصات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9675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49675" y="1371600"/>
            <a:ext cx="2773603" cy="889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95395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2E6B3E"/>
                </a:solidFill>
                <a:latin typeface="Neo Sans Arabic"/>
              </a:rPr>
              <a:t>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5395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فئة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تغطّي مواد المشاريع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1371600"/>
            <a:ext cx="2773603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مورد معتمد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شركاء نشطون بسجلّاتهم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729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632895" y="3383280"/>
            <a:ext cx="101600" cy="141732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0440"/>
            <a:ext cx="10911535" cy="11887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من الصفر إلى منظومة مؤتمتة</a:t>
            </a:r>
          </a:p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عند استلام الإدارة لم يكن هناك سجل أسعار، وكان عدد الموردين المستلَمين 4 فقط؛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واليوم: نظام مشتريات فعّال ومؤتمت، و53 مورداً معتمداً في 25 فئة، و585 صنفاً و864 سجلاً سعرياً يُحدَّث باستمرار.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لوحة التحكم (سجل الأصناف والأسعار والموردين)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رابعاً: الموردون والعلاقات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تآكل ثقة الموردين بطلباتنا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ضبط «العاجل» والالتزام بإغلاق الطلبات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شهرية متكررة بلا عقود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عقود إطارية سنوية مُرساة بثلاثة عروض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الطلبات المستديمة المتكررة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تخضع لثلاثة عروض كاملة كغيرها دون استثناء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مشاكل الصيانة والتشغيل مع الموردين غير محصورة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تسليم المشتريات بها وبالمسؤول عنها لتوحيد التعامل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موردي الصيانة والتشغيل والإدارات (نقداً/أجلاً)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حصرهم وتسجيلهم لدينا وحفظ سجلاتهم في قائمة موحّدة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خامساً: العلاقة مع الصيانة والتشغيل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إطار منظّم للعلاقة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اتفاقية تحدّد المسارات الأربعة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جهة تنسيق واحدة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منسّق من الصيانة ملمّ بالمشتريات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آليات مختلفة لكل طلب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آلية موحّدة لكل نوع طلب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سادساً: العهد والموارد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عهدة قصر الياسمين مسجّلة على مندوب المشتريات رغم أن الشراء والصرف يتمّ عبر المشروع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نقل العهدة إلى مسؤول المشروع باعتباره المنفّذ الفعلي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بقاء العهدة على المندوب يحمّله مسؤولية مالية عن مصروفات لا يديرها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تسوية العهدة الحالية وإبراء ذمّة المندوب فوراً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عهدة نقدية للمشتريات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عهدة مستديمة بضوابط صرف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وسيلة توريد للمواقع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سائق تابع للمشتريات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سابعاً: التكامل مع الإدارة المالية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بطء التحويل للموردين وتعليق المعاملات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ملزمة (3–5 أيام)، وتصعيد للإدارة العليا عند التجاوز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إثراء سجل الأسعار بأسعار الشراء الفعلية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ربط فواتير النظام المالي بسجل الأسعار المُفعّل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مسار طوارئ محكوم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مسار بموافقة مسبقة وسقف محدّد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سياسات المشتريات الحاكمة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7044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القناة الموحّدة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كل شراء عبر المشتريات حصراً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2706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ثلاثة عروض إلزامية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لأي شراء مهما كان حجمه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مصفوفة الصلاحيات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الاعتماد حسب القيمة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7044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الدورة المستندية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مسار موحّد من الاحتياج للإغلاق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2706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اعتماد الموردين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قائمة معتمدة وتقييم دوري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العقود الإطارية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للطلبات المتكررة والمستديمة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7316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737035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7044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سجل أسعار المناقصات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للمناقصات فقط لا للشراء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2978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2696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2706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مسار الطوارئ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بموافقة مسبقة موثّقة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88358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المشتريات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عهدة مستديمة بضوابط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7316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737035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7044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لا دفع قبل أمر الشراء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قنوات الدفع: تحويل أو نقاط بيع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2978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62696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2706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الفصل بين المهام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فصل الطلب والتقييم والاعتماد والدفع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88358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التحقق قبل الاعتماد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طلب وأمر وعروض ومقارنة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الدورة الكاملة للمشتريات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طلب الشراء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6963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طلب ثلاثة عروض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6551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التحليل والمفاضلة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6139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تعميد المورد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أمر الشراء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697480"/>
            <a:ext cx="2121408" cy="8686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الصرف/التحويل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6963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التوريد والاستلام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551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المطابقة والإغلاق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6139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ثلاثة عروض إلزامية في كل دورة — ولا توريد خارج هذا المسار.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إجراءات الدورة ومددها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71600"/>
          <a:ext cx="11460174" cy="4937759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2525123"/>
                <a:gridCol w="5050246"/>
                <a:gridCol w="2330883"/>
                <a:gridCol w="1553922"/>
              </a:tblGrid>
              <a:tr h="548639"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المرحلة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الإجراء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المسؤول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المدة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1) طلب الشراء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تحديد الحاجة والمواصفات + تحقق مالي مسبق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الجهة الطالبة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يومان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2) طلب العروض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دعوة ثلاثة موردين مؤهلين على الأقل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3–5 أيام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3) التحليل والمفاضلة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فنية وجدول مقارنة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4) تعميد المورد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اعتماد الأفضل قيمة بعد ثلاثة عروض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مدير العمليات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5) أمر الشراء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إصدار الأمر وإرساله للمورد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6) الصرف/التحويل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الدفع بعد أمر الشراء (تحويل/نقاط بيع)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—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7) التوريد والاستلام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فحص الكمية والجودة ومحضر استلام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المستلم/المستودعات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8) المطابقة والإغلاق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المستندات وأرشفة الملف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 والمشتريات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مصفوفة الصلاحيات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الأول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29471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2623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25,000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مدير المشتريات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0439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100,000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المشتريات والمالية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الثالث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45103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8255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الرابع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أكثر من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 ولجنة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0E2A38"/>
                </a:solidFill>
                <a:latin typeface="Neo Sans Arabic"/>
              </a:rPr>
              <a:t>العروض الثلاثة قاعدة ثابتة في كل المستويات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الاستثناءات (باعتماد مدير المشتريات): النثريات — المتعاقد عليه إطارياً — الطوارئ المعتمدة مسبقاً.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المسارات الخاصة والرقابة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5332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المشتريات الطارئة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بإذن مدير العمليات، واستكمال المنافسة والتبرير لاحقاً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0994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وحيد المصدر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بنموذج تبرير فني/تجاري معتمد عند تعذّر المنافسة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المشتريات المتكررة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عقود إطارية سنوية مع موردين معتمدين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5332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الفصل بين الواجبات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فصل الطلب والتقييم والاعتماد والدفع بين أطراف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994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حفظ السجلات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لا تقل عن خمس سنوات لكل ملفات المشتريات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التدقيق الدوري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تدقيق نصف سنوي على المنافسة والموافقات والأرشفة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خارطة الطريق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أول 30 يوماً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7316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4476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النموذج الموحّد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مصفوفة الصلاحيات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حصر الشراء بالمشتريات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التزام المالية الزمني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حتى 90 يوماً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0138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أتمتة سجل الأسعار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العقود الإطارية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عهدة وسائق للمشتريات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معالجة عهدة قصر الياسمين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المدى البعيد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نظام مشتريات 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لوحات متابعة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تقييم الموردين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استراتيجية التوريد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مؤشرات النجاح: الحالي والهدف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298448"/>
            <a:ext cx="369813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298448"/>
            <a:ext cx="369813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7796" y="1298448"/>
            <a:ext cx="369813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التسليم في الموعد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865" y="1801368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9E2B25"/>
                </a:solidFill>
                <a:latin typeface="Neo Sans Arabic"/>
              </a:rPr>
              <a:t>26.2٪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7796" y="1801368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2E6B3E"/>
                </a:solidFill>
                <a:latin typeface="Neo Sans Arabic"/>
              </a:rPr>
              <a:t>90٪ فأكثر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67137" y="1892808"/>
            <a:ext cx="219456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8218" y="1298448"/>
            <a:ext cx="369813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8218" y="1298448"/>
            <a:ext cx="369813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8218" y="1298448"/>
            <a:ext cx="369813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الأوامر المتأخرة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1801368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9E2B25"/>
                </a:solidFill>
                <a:latin typeface="Neo Sans Arabic"/>
              </a:rPr>
              <a:t>15.4٪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8218" y="1801368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2E6B3E"/>
                </a:solidFill>
                <a:latin typeface="Neo Sans Arabic"/>
              </a:rPr>
              <a:t>أقل من 5٪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7559" y="1892808"/>
            <a:ext cx="219456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1298448"/>
            <a:ext cx="369813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1298448"/>
            <a:ext cx="369813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1298448"/>
            <a:ext cx="369813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متوسط أيام التأخير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7709" y="1801368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9E2B25"/>
                </a:solidFill>
                <a:latin typeface="Neo Sans Arabic"/>
              </a:rPr>
              <a:t>20.4 يوم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1801368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2E6B3E"/>
                </a:solidFill>
                <a:latin typeface="Neo Sans Arabic"/>
              </a:rPr>
              <a:t>أقل من 5 أيام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7981" y="1892808"/>
            <a:ext cx="219456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7796" y="2926080"/>
            <a:ext cx="369813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7796" y="2926080"/>
            <a:ext cx="369813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7796" y="2926080"/>
            <a:ext cx="369813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أوامر عالقة لدى المالية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6865" y="3429000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9E2B25"/>
                </a:solidFill>
                <a:latin typeface="Neo Sans Arabic"/>
              </a:rPr>
              <a:t>10 أوامر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796" y="3429000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2E6B3E"/>
                </a:solidFill>
                <a:latin typeface="Neo Sans Arabic"/>
              </a:rPr>
              <a:t>إلى الصفر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67137" y="3520440"/>
            <a:ext cx="219456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38218" y="2926080"/>
            <a:ext cx="369813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38218" y="2926080"/>
            <a:ext cx="369813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38218" y="2926080"/>
            <a:ext cx="369813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مؤشر صحة النظام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7287" y="3429000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9E2B25"/>
                </a:solidFill>
                <a:latin typeface="Neo Sans Arabic"/>
              </a:rPr>
              <a:t>42٪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8218" y="3429000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2E6B3E"/>
                </a:solidFill>
                <a:latin typeface="Neo Sans Arabic"/>
              </a:rPr>
              <a:t>85٪ فأكثر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77559" y="3520440"/>
            <a:ext cx="219456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2926080"/>
            <a:ext cx="369813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2926080"/>
            <a:ext cx="369813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2926080"/>
            <a:ext cx="369813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الأوامر الملغاة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97709" y="3429000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9E2B25"/>
                </a:solidFill>
                <a:latin typeface="Neo Sans Arabic"/>
              </a:rPr>
              <a:t>8.8٪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429000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2E6B3E"/>
                </a:solidFill>
                <a:latin typeface="Neo Sans Arabic"/>
              </a:rPr>
              <a:t>أقل من 3٪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7981" y="3520440"/>
            <a:ext cx="219456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27796" y="4553712"/>
            <a:ext cx="369813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27796" y="4553712"/>
            <a:ext cx="369813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27796" y="4553712"/>
            <a:ext cx="369813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الالتزام بالعروض الثلاثة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76865" y="5056632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9E2B25"/>
                </a:solidFill>
                <a:latin typeface="Neo Sans Arabic"/>
              </a:rPr>
              <a:t>يُبدأ القياس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27796" y="5056632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2E6B3E"/>
                </a:solidFill>
                <a:latin typeface="Neo Sans Arabic"/>
              </a:rPr>
              <a:t>95٪ فأكثر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67137" y="5148072"/>
            <a:ext cx="219456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8218" y="4553712"/>
            <a:ext cx="369813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38218" y="4553712"/>
            <a:ext cx="369813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38218" y="4553712"/>
            <a:ext cx="369813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الموردون المعتمدون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87287" y="5056632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9E2B25"/>
                </a:solidFill>
                <a:latin typeface="Neo Sans Arabic"/>
              </a:rPr>
              <a:t>53 مورداً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8218" y="5056632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2E6B3E"/>
                </a:solidFill>
                <a:latin typeface="Neo Sans Arabic"/>
              </a:rPr>
              <a:t>نموّ مستمر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77559" y="5148072"/>
            <a:ext cx="219456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4553712"/>
            <a:ext cx="369813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8640" y="4553712"/>
            <a:ext cx="3698138" cy="4572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4553712"/>
            <a:ext cx="3698138" cy="4572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زمن دورة الشراء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97709" y="5056632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9E2B25"/>
                </a:solidFill>
                <a:latin typeface="Neo Sans Arabic"/>
              </a:rPr>
              <a:t>يُبدأ القياس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056632"/>
            <a:ext cx="1849069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200"/>
              </a:spcAft>
            </a:pPr>
            <a:r>
              <a:rPr sz="105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2E6B3E"/>
                </a:solidFill>
                <a:latin typeface="Neo Sans Arabic"/>
              </a:rPr>
              <a:t>ضمن 9 أيام عمل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87981" y="5148072"/>
            <a:ext cx="219456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القرارات المطلوبة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0167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حصر كل شراء عبر المشتريات حصراً.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السياسات والدورة الكاملة.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إقرار مصفوفة الصلاحيات والعروض الثلاثة.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إلزام المالية بمدة التحويل.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0167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7327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إنشاء سجل أسعار للمناقصات.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تفويض العقود الإطارية.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70167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07327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معالجة العهد وموارد المشتريات.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خارطة الطريق والمؤشرات.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62895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Neo Sans Arabic"/>
              </a:rPr>
              <a:t>منظومة واضحة تحمي المال وتنظّم التوريد.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62895" cy="7315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وفريق المشتريات جاهز للتنفيذ فور الاعتماد.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F6F3ED"/>
                </a:solidFill>
                <a:latin typeface="Neo Sans Arabic"/>
              </a:rPr>
              <a:t>مع وافر الاحترام والتقدير — إدارة العمليات والمشتريات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