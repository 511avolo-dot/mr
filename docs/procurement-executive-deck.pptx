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تطوير منظومة المشتريات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المشاكل ومعالجتها · المنظومة المقترحة · المطلوب من الإدارة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مرفوع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Neo Sans Arabic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محتوى العرض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ثلاثة أجزاء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الوضع والمشاكل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أرقام النظام، ثم سبعة محاور بمعالجاتها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المنظومة المقترحة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السياسات · الدورة الكاملة · مصفوفة الصلاحيات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التنفيذ والقرار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خارطة الطريق · مؤشرات النجاح · القرارات المطلوبة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الملخص التنفيذي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الفكرة في أربع نقاط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20195" y="1463040"/>
            <a:ext cx="114300" cy="13716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9E2B25"/>
                </a:solidFill>
                <a:latin typeface="Neo Sans Arabic"/>
              </a:rPr>
              <a:t>المشكلة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لا توجد قناة موحّدة ولا دورة مُلزِمة ولا صلاحيات واضحة للمشتريات.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90107" y="1463040"/>
            <a:ext cx="114300" cy="13716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C57A0C"/>
                </a:solidFill>
                <a:latin typeface="Neo Sans Arabic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تأخّر 68٪ من الأوامر، وازدواج إنفاق، وتآكل ثقة الموردين.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20195" y="3017520"/>
            <a:ext cx="114300" cy="13716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قناة واحدة + دورة موثّقة + ثلاثة عروض لكل شراء + صلاحيات واضحة.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0107" y="3017520"/>
            <a:ext cx="114300" cy="13716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0E2A38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إقرار السياسات وخارطة الطريق من الإدارة العليا.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أبرز التحديات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مرتّبة حسب الأهمية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1567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1567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الشراء المباشر خارج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1567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التحويل المالي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67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الإفراط في صفة «عاجل»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غياب الدورة والصلاحيات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تسعير المناقصات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قصر الياسمين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الوضع الراهن بالأرقام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 واقع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أمر شراء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في السجل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405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ألف ريال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إجمالي قيمة الأوامر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طلبات 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36 من 53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تأخير 52 يوماً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291839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938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938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38 مستخدماً فعلياً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291839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23٪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لم تكتمل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ملغاة أو قيد المراجعة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لوحة حالة الأوامر والأولوية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توزيع أوامر الشراء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الحالة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1764792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34290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350008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المراجعة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368296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27018" y="2368296"/>
            <a:ext cx="648502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738" y="2368296"/>
            <a:ext cx="557062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2935224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ملغى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953512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2305" y="2953512"/>
            <a:ext cx="463215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8025" y="2953512"/>
            <a:ext cx="371775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3520440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 جزئياً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538728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0" y="3538728"/>
            <a:ext cx="45720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3538728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4105656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التوريد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123944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20" y="4123944"/>
            <a:ext cx="45720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4123944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الأولوية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1764792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متوسط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1783080"/>
            <a:ext cx="370332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350008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عالي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368296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7157" y="2368296"/>
            <a:ext cx="3104803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2877" y="2368296"/>
            <a:ext cx="3013363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2935224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عاجل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953512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09602" y="2953512"/>
            <a:ext cx="2242358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5322" y="2953512"/>
            <a:ext cx="2150918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57600"/>
            <a:ext cx="5394960" cy="1234440"/>
          </a:xfrm>
          <a:prstGeom prst="rect">
            <a:avLst/>
          </a:prstGeom>
          <a:solidFill>
            <a:srgbClr val="F7E9E7"/>
          </a:solidFill>
          <a:ln w="19050">
            <a:solidFill>
              <a:srgbClr val="9E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794760"/>
            <a:ext cx="5029200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500" b="1">
                <a:solidFill>
                  <a:srgbClr val="9E2B25"/>
                </a:solidFill>
                <a:latin typeface="Neo Sans Arabic"/>
              </a:rPr>
              <a:t>مفارقة «العاجل»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0E2A38"/>
                </a:solidFill>
                <a:latin typeface="Neo Sans Arabic"/>
              </a:rPr>
              <a:t>من 13 طلباً «عاجلاً»: تأخّر 8 وأُلغي 1 — أي أن صفة العاجل لا تضمن السرعة.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12 طلباً لم تكتمل (ملغاة/قيد المراجعة)، وثلثا الأوامر متأخرة — مؤشر على خلل في الدورة.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أين يضيع الوقت؟ تشخيص 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سبب التأخير الأبرز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44٪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من الطلبات المتأخرة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سببها التحويل المالي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من أصل 688 بسبب 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15.6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زمن التوريد الكلي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655" y="3429000"/>
            <a:ext cx="576072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أوامر الشراء حسب القطاع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679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الصيانة والتشغيل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86200"/>
            <a:ext cx="82753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3251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الإنشاءات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5400" y="4343400"/>
            <a:ext cx="3718560" cy="310896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51120" y="4343400"/>
            <a:ext cx="36271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7823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الإدارة العامة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6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4800600"/>
            <a:ext cx="2788920" cy="310896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4800600"/>
            <a:ext cx="26974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2395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النقليات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4440" y="5257800"/>
            <a:ext cx="1239520" cy="3108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0160" y="5257800"/>
            <a:ext cx="11480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نحو نصف أيام التأخير سببها التحويل المالي — ما يؤكد أولوية إلزام المالية بمدة زمنية.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أولاً: تنظيم الطلبات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بالبريد والواتساب بصفة «عاجل» بلا نموذج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نموذج طلب رسمي موحّد موقّع، ولا يُعتدّ بغيره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الإفراط في «عاجل» وأغلبه لا يُنفّذ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«عاجل» باعتماد خطّي مبرّر وسقف شهري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معلّقة دون إجراء (خاصة لدى المالية)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بتّ محددة، وتصعيد متدرّج: مدير الإدارة ثم الإدارة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الدورة ومن يعتمد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دورة موثّقة ومصفوفة صلاحيات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مواصفات ناقصة وقنوات متفرّقة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إرفاق صورة/علامة تجارية، وقناة رسمية واحدة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ثانياً: ازدواجية التوريد والشراء المباشر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 تُورّد صنفاً ورّدته الصيانة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إشعار فوري بالاكتفاء، ومنع توريد موازٍ بعد أمر الشراء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مباشر خارج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كل شراء وتوريد عبر المشتريات حصراً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من موردين بعينهم دون رجوع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إدراجهم في قائمة معتمدة تُدار مركزياً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صنف متوفّر بالمخزون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فحص المستودع إلزامي قبل الطلب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ثالثاً: تسعير المناقصات وسجل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إعادة تجميع الأسعار يدوياً لكل مناقصة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الرجوع لسجل الأسعار المرجعي المُفعّل في النظام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السجل يحتاج تغذية مستمرة بالأسعار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مؤتمت داخل النظام؛ ويُثرى بربط فواتير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ضيق وقت تسعير المناقصات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تخصيص مدة معيارية كافية متّفق عليها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إنجاز 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منظومة فعلية مبنية ومُشغّلة داخل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4899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24899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0619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70619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صنف مسجّل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579 مُسعّراً · 6 بلا سعر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7287" y="1371600"/>
            <a:ext cx="2773603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864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سجل سعري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تاريخ أسعار مرجعي للمناقصات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9675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9675" y="1371600"/>
            <a:ext cx="2773603" cy="889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5395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2E6B3E"/>
                </a:solidFill>
                <a:latin typeface="Neo Sans Arabic"/>
              </a:rP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5395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فئة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تغطّي مواد المشاريع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 معتمد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شركاء نشطون بسجلّاتهم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729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32895" y="3383280"/>
            <a:ext cx="101600" cy="14173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0440"/>
            <a:ext cx="10911535" cy="11887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من الصفر إلى منظومة مؤتمتة</a:t>
            </a:r>
          </a:p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عند استلام الإدارة لم يكن هناك سجل أسعار، وكان عدد الموردين المستلَمين 4 فقط؛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واليوم: نظام مشتريات فعّال ومؤتمت، و53 مورداً معتمداً في 25 فئة، و585 صنفاً و864 سجلاً سعرياً يُحدَّث باستمرار.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لوحة التحكم (سجل الأصناف والأسعار والموردين)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رابعاً: الموردون والعلاقات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تآكل ثقة الموردين بطلباتنا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ضبط «العاجل» والالتزام بإغلاق الطلبات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شهرية متكررة بلا عقود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عقود إطارية سنوية مُرساة بثلاثة عروض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الطلبات المستديمة المتكررة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تخضع لثلاثة عروض كاملة كغيرها دون استثناء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مشاكل الصيانة والتشغيل مع الموردين غير محصورة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تسليم المشتريات بها وبالمسؤول عنها لتوحيد التعامل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موردي الصيانة والتشغيل والإدارات (نقداً/أجلاً)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حصرهم وتسجيلهم لدينا وحفظ سجلاتهم في قائمة موحّدة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خامساً: العلاقة مع الصيانة والتشغيل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إطار منظّم للعلاقة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اتفاقية تحدّد المسارات الأربعة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جهة تنسيق واحدة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منسّق من الصيانة ملمّ بالمشتريات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آليات مختلفة لكل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آلية موحّدة لكل نوع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سادساً: العهد والموارد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عهدة قصر الياسمين مسجّلة على مندوب المشتريات رغم أن الشراء والصرف يتمّ عبر المشروع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نقل العهدة إلى مسؤول المشروع باعتباره المنفّذ الفعلي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بقاء العهدة على المندوب يحمّله مسؤولية مالية عن مصروفات لا يديرها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تسوية العهدة الحالية وإبراء ذمّة المندوب فوراً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عهدة نقدية للمشتريات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عهدة مستديمة بضوابط صرف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وسيلة توريد للمواقع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سائق تابع للمشتريات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سابعاً: التكامل مع الإدارة المالية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بطء التحويل للموردين وتعليق المعاملات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ملزمة (3–5 أيام)، وتصعيد للإدارة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إثراء سجل الأسعار بأسعار الشراء الفعلية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ربط فواتير النظام المالي بسجل الأسعار المُفعّل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مسار طوارئ محكوم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مسار بموافقة مسبقة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سياسات المشتريات الحاكمة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7044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كل شراء عبر المشتريات حصراً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2706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لأي شراء مهما كان حجمه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الاعتماد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044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مسار موحّد من الاحتياج للإغلاق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2706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قائمة معتمدة وتقييم دوري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للطلبات المتكررة والمستديمة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7316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37035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7044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للمناقصات فقط لا للشراء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696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2706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مسار الطوارئ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بموافقة مسبقة موثّقة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8358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المشتريات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عهدة مستديمة بضوابط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7316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737035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7044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لا دفع قبل أمر الشراء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قنوات الدفع: تحويل أو نقاط بيع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2978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62696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2706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الفصل بين المهام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فصل الطلب والتقييم والاعتماد والدفع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88358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التحقق قبل الاعتماد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طلب وأمر وعروض ومقارنة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الدورة الكاملة للمشتريات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طلب الشراء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طلب ثلاثة عروض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التحليل والمفاضلة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تعميد المورد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أمر الشراء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69748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الصرف/التحويل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التوريد والاستلام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المطابقة والإغلاق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ثلاثة عروض إلزامية في كل دورة — ولا توريد خارج هذا المسار.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إجراءات الدورة ومددها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60174" cy="4937759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2525123"/>
                <a:gridCol w="5050246"/>
                <a:gridCol w="2330883"/>
                <a:gridCol w="1553922"/>
              </a:tblGrid>
              <a:tr h="548639"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المدة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1) طلب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تحديد الحاجة والمواصفات + تحقق مالي مسبق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الجهة الطالبة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يومان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2) طلب العروض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دعوة ثلاثة موردين مؤهلين على الأقل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3–5 أيام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3) التحليل والمفاضلة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فنية وجدول مقارنة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4) تعميد المورد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اعتماد الأفضل قيمة بعد ثلاثة 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مدير العمليات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5) أمر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إصدار الأمر وإرساله للمورد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6) الصرف/التحويل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الدفع بعد أمر الشراء (تحويل/نقاط بيع)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—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7) التوريد والاستلام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فحص الكمية والجودة ومحضر 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المستلم/المستودعات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8) المطابقة والإغلاق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المستندات وأرشفة الملف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 والمشتريات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مصفوفة الصلاحيات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9471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2623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25,000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مدير المشتريات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100,000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المشتريات والمالية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45103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8255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أكثر من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 ولجنة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0E2A38"/>
                </a:solidFill>
                <a:latin typeface="Neo Sans Arabic"/>
              </a:rPr>
              <a:t>العروض الثلاثة قاعدة ثابتة في كل المستويات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الاستثناءات (باعتماد مدير المشتريات): النثريات — المتعاقد عليه إطارياً — الطوارئ المعتمدة مسبقاً.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المسارات الخاصة والرقابة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5332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الطارئة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بإذن مدير العمليات، واستكمال المنافسة والتبرير لاحقاً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0994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وحيد المصدر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بنموذج تبرير فني/تجاري معتمد عند تعذّر المنافسة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المتكررة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عقود إطارية سنوية مع موردين معتمدين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5332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الفصل بين الواجبات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فصل الطلب والتقييم والاعتماد والدفع بين أطراف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994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حفظ السجلات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لا تقل عن خمس سنوات لكل ملفات المشتريات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التدقيق الدوري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تدقيق نصف سنوي على المنافسة والموافقات والأرشفة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خارطة الطريق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أول 30 يوماً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النموذج الموحّد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مصفوفة الصلاحيات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حصر الشراء بالمشتريات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التزام المالية الزمني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حتى 90 يوماً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أتمتة سجل الأسعار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العقود الإطارية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عهدة وسائق للمشتريات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معالجة عهدة قصر الياسمين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المدى البعيد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نظام مشتريات 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لوحات متابعة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تقييم الموردين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استراتيجية التوريد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21 /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مؤشرات النجاح: الحالي والهدف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الطلبات المتأخرة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865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796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15٪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67137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8218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 زمن التوريد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15.6 يوم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8218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8 أيام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7559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تأخيرات بسبب المالية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7709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44٪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10٪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7981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7796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الطلبات غير المكتملة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865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23٪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796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5٪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7137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38218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الالتزام بالعروض الثلاثة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7287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يُبدأ القياس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8218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7559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الموردون المسجّلون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7709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42 مورداً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نموّ مستمر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7981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22 / 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القرارات المطلوبة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حصر كل شراء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السياسات والدورة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إقرار مصفوفة الصلاحيات والعروض الثلاثة.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إلزام المالية بمدة التحويل.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إنشاء سجل أسعار للمناقصات.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تفويض العقود الإطارية.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معالجة العهد وموارد المشتريات.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خارطة الطريق والمؤشرات.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23 /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eo Sans Arabic"/>
              </a:rPr>
              <a:t>منظومة واضحة تحمي المال وتنظّم التوريد.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6289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وفريق المشتريات جاهز للتنفيذ فور الاعتماد.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F6F3ED"/>
                </a:solidFill>
                <a:latin typeface="Neo Sans Arabic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