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7724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تطوير وحوكمة منظومة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362895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700" b="0">
                <a:solidFill>
                  <a:srgbClr val="C9A24B"/>
                </a:solidFill>
                <a:latin typeface="Arial"/>
              </a:rPr>
              <a:t>تشخيص الوضع الراهن — وحلول عملية لكل تحدٍّ — وسياسات وإجراءات ودورة داخلية كاملة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62895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وثيقة قرار تنفيذية مرفوعة إلى سعادة المدير العام والإدارة العليا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F6F3ED"/>
                </a:solidFill>
                <a:latin typeface="Arial"/>
              </a:rPr>
              <a:t>إعداد: إدارة العمليات والمشتريات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91295" y="182880"/>
            <a:ext cx="2971800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إدارة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6304"/>
            <a:ext cx="8595360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السياق والهدف من هذه الوثيقة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76656"/>
            <a:ext cx="85953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لماذا الآن؟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11277295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500"/>
              </a:spcAft>
            </a:pPr>
            <a:r>
              <a:rPr sz="1600" b="1">
                <a:solidFill>
                  <a:srgbClr val="0E2A38"/>
                </a:solidFill>
                <a:latin typeface="Arial"/>
              </a:rPr>
              <a:t>•  إدارة المشتريات هي القلب الذي يربط المشاريع والصيانة والمالية والمستودعات والموردين؛ وأي خلل في تنظيمها ينعكس على الجميع.</a:t>
            </a:r>
          </a:p>
          <a:p>
            <a:pPr rtl="1" algn="r">
              <a:spcAft>
                <a:spcPts val="1500"/>
              </a:spcAft>
            </a:pPr>
            <a:r>
              <a:rPr sz="1600" b="0">
                <a:solidFill>
                  <a:srgbClr val="3A4650"/>
                </a:solidFill>
                <a:latin typeface="Arial"/>
              </a:rPr>
              <a:t>•  تراكمت ملاحظات متكرّرة في آلية العمل تؤثر على كفاءة الإنفاق وانتظام التوريد وعلاقتنا بالموردين.</a:t>
            </a:r>
          </a:p>
          <a:p>
            <a:pPr rtl="1" algn="r">
              <a:spcAft>
                <a:spcPts val="1500"/>
              </a:spcAft>
            </a:pPr>
            <a:r>
              <a:rPr sz="1600" b="0">
                <a:solidFill>
                  <a:srgbClr val="3A4650"/>
                </a:solidFill>
                <a:latin typeface="Arial"/>
              </a:rPr>
              <a:t>•  الهدف ليس تحميل أي إدارة اللوم، بل وضع سياسات وإجراءات ثابتة ومُلزِمة تنظّم العمل وتحمي مصلحة الشركة.</a:t>
            </a:r>
          </a:p>
          <a:p>
            <a:pPr rtl="1" algn="r">
              <a:spcAft>
                <a:spcPts val="1500"/>
              </a:spcAft>
            </a:pPr>
            <a:r>
              <a:rPr sz="1600" b="0">
                <a:solidFill>
                  <a:srgbClr val="3A4650"/>
                </a:solidFill>
                <a:latin typeface="Arial"/>
              </a:rPr>
              <a:t>•  المسار: مناقشة النقاط مع الإدارات ذات العلاقة، ثم رفعها للإدارة العليا لاعتماد القرار المناسب لكل بند.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925312"/>
            <a:ext cx="11643055" cy="713232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841175" y="5925312"/>
            <a:ext cx="76200" cy="71323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971032"/>
            <a:ext cx="11277295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Arial"/>
              </a:rPr>
              <a:t>القرار / السياسة المطلوبة</a:t>
            </a:r>
          </a:p>
          <a:p>
            <a:pPr rtl="1" algn="r"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اعتماد هذه الوثيقة أساساً للنقاش المؤسسي ثم إقرار سياسة وإجراء ثابت لكل بند فيها.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Arial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91295" y="182880"/>
            <a:ext cx="2971800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إدارة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6304"/>
            <a:ext cx="8595360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الملخص التنفيذي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76656"/>
            <a:ext cx="85953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الصورة الكاملة في صفحة واحدة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5592927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02807" y="1417320"/>
            <a:ext cx="101600" cy="123444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27048"/>
            <a:ext cx="5181447" cy="10515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1800" b="1">
                <a:solidFill>
                  <a:srgbClr val="9E2B25"/>
                </a:solidFill>
                <a:latin typeface="Arial"/>
              </a:rPr>
              <a:t>جوهر المشكلة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A4650"/>
                </a:solidFill>
                <a:latin typeface="Arial"/>
              </a:rPr>
              <a:t>غياب دورة مستندية مُلزِمة وقناة موحّدة للطلبات وصلاحيات واضحة وضوابط ثابتة للعمل.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7287" y="1417320"/>
            <a:ext cx="5592927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678615" y="1417320"/>
            <a:ext cx="101600" cy="123444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4447" y="1527048"/>
            <a:ext cx="5181447" cy="10515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1800" b="1">
                <a:solidFill>
                  <a:srgbClr val="C57A0C"/>
                </a:solidFill>
                <a:latin typeface="Arial"/>
              </a:rPr>
              <a:t>الأثر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A4650"/>
                </a:solidFill>
                <a:latin typeface="Arial"/>
              </a:rPr>
              <a:t>ازدواج في الإنفاق، وتأخّر في التوريد، وتآكل في ثقة الموردين، وضعف في الرقابة على التكلفة.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834640"/>
            <a:ext cx="5592927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02807" y="2834640"/>
            <a:ext cx="101600" cy="123444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944368"/>
            <a:ext cx="5181447" cy="10515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1800" b="1">
                <a:solidFill>
                  <a:srgbClr val="2E6B3E"/>
                </a:solidFill>
                <a:latin typeface="Arial"/>
              </a:rPr>
              <a:t>الحل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A4650"/>
                </a:solidFill>
                <a:latin typeface="Arial"/>
              </a:rPr>
              <a:t>مأسسة المشتريات: قناة واحدة إلزامية + دورة موثّقة + ثلاثة عروض لكل شراء + مصفوفة صلاحيات + عقود إطارية.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7287" y="2834640"/>
            <a:ext cx="5592927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678615" y="2834640"/>
            <a:ext cx="101600" cy="12344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4447" y="2944368"/>
            <a:ext cx="5181447" cy="10515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1800" b="1">
                <a:solidFill>
                  <a:srgbClr val="0E2A38"/>
                </a:solidFill>
                <a:latin typeface="Arial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A4650"/>
                </a:solidFill>
                <a:latin typeface="Arial"/>
              </a:rPr>
              <a:t>إقرار السياسات والإجراءات وخارطة الطريق (أول 30 يوماً / حتى 90 يوماً / المدى البعيد).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5925312"/>
            <a:ext cx="11643055" cy="713232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841175" y="5925312"/>
            <a:ext cx="76200" cy="71323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971032"/>
            <a:ext cx="11277295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Arial"/>
              </a:rPr>
              <a:t>القرار / السياسة المطلوبة</a:t>
            </a:r>
          </a:p>
          <a:p>
            <a:pPr rtl="1" algn="r"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الانتقال بالمشتريات من العمل التفاعلي اليومي إلى منظومة محوكمة تحمي الربحية وتضبط التوريد.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Arial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91295" y="182880"/>
            <a:ext cx="2971800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إدارة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6304"/>
            <a:ext cx="8595360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لوحة التحديات المرصودة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76656"/>
            <a:ext cx="85953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مصنّفة حسب درجة الأثر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371600"/>
            <a:ext cx="563864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865815" y="1371600"/>
            <a:ext cx="960120" cy="65836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65815" y="1371600"/>
            <a:ext cx="960120" cy="65836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حرج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7015" y="1371600"/>
            <a:ext cx="4541367" cy="65836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250" b="1">
                <a:solidFill>
                  <a:srgbClr val="0E2A38"/>
                </a:solidFill>
                <a:latin typeface="Arial"/>
              </a:rPr>
              <a:t>ازدواجية التوريد (شراء صنف ورّدته الصيانة فعلاً)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2157984"/>
            <a:ext cx="563864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65815" y="2157984"/>
            <a:ext cx="960120" cy="65836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65815" y="2157984"/>
            <a:ext cx="960120" cy="65836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حرج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7015" y="2157984"/>
            <a:ext cx="4541367" cy="65836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250" b="1">
                <a:solidFill>
                  <a:srgbClr val="0E2A38"/>
                </a:solidFill>
                <a:latin typeface="Arial"/>
              </a:rPr>
              <a:t>الشراء المباشر خارج إدارة المشتريات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2944368"/>
            <a:ext cx="563864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865815" y="2944368"/>
            <a:ext cx="960120" cy="65836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65815" y="2944368"/>
            <a:ext cx="960120" cy="65836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حرج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7015" y="2944368"/>
            <a:ext cx="4541367" cy="65836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250" b="1">
                <a:solidFill>
                  <a:srgbClr val="0E2A38"/>
                </a:solidFill>
                <a:latin typeface="Arial"/>
              </a:rPr>
              <a:t>بطء التحويل المالي للموردين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3730752"/>
            <a:ext cx="563864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865815" y="3730752"/>
            <a:ext cx="960120" cy="65836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65815" y="3730752"/>
            <a:ext cx="960120" cy="65836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مرتفع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7015" y="3730752"/>
            <a:ext cx="4541367" cy="65836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250" b="1">
                <a:solidFill>
                  <a:srgbClr val="0E2A38"/>
                </a:solidFill>
                <a:latin typeface="Arial"/>
              </a:rPr>
              <a:t>الإفراط في صفة «عاجل» وتآكل ثقة الموردين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4517136"/>
            <a:ext cx="563864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65815" y="4517136"/>
            <a:ext cx="960120" cy="65836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65815" y="4517136"/>
            <a:ext cx="960120" cy="65836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مرتفع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7015" y="4517136"/>
            <a:ext cx="4541367" cy="65836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250" b="1">
                <a:solidFill>
                  <a:srgbClr val="0E2A38"/>
                </a:solidFill>
                <a:latin typeface="Arial"/>
              </a:rPr>
              <a:t>الطلبات المعلّقة دون اعتماد أو تحويل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1371600"/>
            <a:ext cx="563864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44287" y="1371600"/>
            <a:ext cx="960120" cy="65836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44287" y="1371600"/>
            <a:ext cx="960120" cy="65836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مرتفع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" y="1371600"/>
            <a:ext cx="4541367" cy="65836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250" b="1">
                <a:solidFill>
                  <a:srgbClr val="0E2A38"/>
                </a:solidFill>
                <a:latin typeface="Arial"/>
              </a:rPr>
              <a:t>غياب دورة مستندية وإجراءات موحّدة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157984"/>
            <a:ext cx="563864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44287" y="2157984"/>
            <a:ext cx="960120" cy="65836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4287" y="2157984"/>
            <a:ext cx="960120" cy="65836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مرتفع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" y="2157984"/>
            <a:ext cx="4541367" cy="65836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250" b="1">
                <a:solidFill>
                  <a:srgbClr val="0E2A38"/>
                </a:solidFill>
                <a:latin typeface="Arial"/>
              </a:rPr>
              <a:t>غياب مصفوفة صلاحيات للاعتماد والتعميد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944368"/>
            <a:ext cx="563864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44287" y="2944368"/>
            <a:ext cx="960120" cy="65836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44287" y="2944368"/>
            <a:ext cx="960120" cy="65836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متوسط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" y="2944368"/>
            <a:ext cx="4541367" cy="65836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250" b="1">
                <a:solidFill>
                  <a:srgbClr val="0E2A38"/>
                </a:solidFill>
                <a:latin typeface="Arial"/>
              </a:rPr>
              <a:t>بطء تسعير المناقصات وغياب سجل أسعار مرجعي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730752"/>
            <a:ext cx="563864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44287" y="3730752"/>
            <a:ext cx="960120" cy="65836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287" y="3730752"/>
            <a:ext cx="960120" cy="65836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متوسط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3730752"/>
            <a:ext cx="4541367" cy="65836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250" b="1">
                <a:solidFill>
                  <a:srgbClr val="0E2A38"/>
                </a:solidFill>
                <a:latin typeface="Arial"/>
              </a:rPr>
              <a:t>عهدة قصر الياسمين على غير المنفّذ الفعلي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517136"/>
            <a:ext cx="563864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44287" y="4517136"/>
            <a:ext cx="960120" cy="65836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4287" y="4517136"/>
            <a:ext cx="960120" cy="65836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متوسط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8" y="4517136"/>
            <a:ext cx="4541367" cy="65836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250" b="1">
                <a:solidFill>
                  <a:srgbClr val="0E2A38"/>
                </a:solidFill>
                <a:latin typeface="Arial"/>
              </a:rPr>
              <a:t>تعثّر طلبات البنية التحتية المتكررة الصغيرة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Arial"/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91295" y="182880"/>
            <a:ext cx="2971800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إدارة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6304"/>
            <a:ext cx="8595360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لماذا يستحق الأمر قراراً عاجلاً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76656"/>
            <a:ext cx="85953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من ملاحظة تشغيلية إلى أثر على الربحية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592927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15507" y="1371600"/>
            <a:ext cx="88900" cy="9144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444752"/>
            <a:ext cx="5272887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500" b="1">
                <a:solidFill>
                  <a:srgbClr val="0E2A38"/>
                </a:solidFill>
                <a:latin typeface="Arial"/>
              </a:rPr>
              <a:t>ازدواجية التوريد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A4650"/>
                </a:solidFill>
                <a:latin typeface="Arial"/>
              </a:rPr>
              <a:t>دفعٌ مزدوج لنفس الاحتياج، والتزام مالي لم يكن ضرورياً.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7287" y="1371600"/>
            <a:ext cx="5592927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691315" y="1371600"/>
            <a:ext cx="88900" cy="9144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7015" y="1444752"/>
            <a:ext cx="5272887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500" b="1">
                <a:solidFill>
                  <a:srgbClr val="0E2A38"/>
                </a:solidFill>
                <a:latin typeface="Arial"/>
              </a:rPr>
              <a:t>الشراء المباشر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A4650"/>
                </a:solidFill>
                <a:latin typeface="Arial"/>
              </a:rPr>
              <a:t>فقدان قوة التفاوض ووفورات الشراء المجمّع لدى مورد واحد.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450592"/>
            <a:ext cx="5592927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15507" y="2450592"/>
            <a:ext cx="88900" cy="9144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2523744"/>
            <a:ext cx="5272887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500" b="1">
                <a:solidFill>
                  <a:srgbClr val="0E2A38"/>
                </a:solidFill>
                <a:latin typeface="Arial"/>
              </a:rPr>
              <a:t>«العاجل» الزائف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A4650"/>
                </a:solidFill>
                <a:latin typeface="Arial"/>
              </a:rPr>
              <a:t>أسعار أعلى مقابل السرعة، وفتور تدريجي في استجابة الموردين.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7287" y="2450592"/>
            <a:ext cx="5592927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691315" y="2450592"/>
            <a:ext cx="88900" cy="9144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7015" y="2523744"/>
            <a:ext cx="5272887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500" b="1">
                <a:solidFill>
                  <a:srgbClr val="0E2A38"/>
                </a:solidFill>
                <a:latin typeface="Arial"/>
              </a:rPr>
              <a:t>الطلبات المعلّقة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A4650"/>
                </a:solidFill>
                <a:latin typeface="Arial"/>
              </a:rPr>
              <a:t>تأخّر التوريد وتعطّل الأعمال في المواقع.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29584"/>
            <a:ext cx="5592927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15507" y="3529584"/>
            <a:ext cx="88900" cy="9144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" y="3602736"/>
            <a:ext cx="5272887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500" b="1">
                <a:solidFill>
                  <a:srgbClr val="0E2A38"/>
                </a:solidFill>
                <a:latin typeface="Arial"/>
              </a:rPr>
              <a:t>بطء التحويل المالي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A4650"/>
                </a:solidFill>
                <a:latin typeface="Arial"/>
              </a:rPr>
              <a:t>توقّف الموردين عن التوريد، وتحميل المشتريات تبعة التأخير.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87287" y="3529584"/>
            <a:ext cx="5592927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691315" y="3529584"/>
            <a:ext cx="88900" cy="9144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7015" y="3602736"/>
            <a:ext cx="5272887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500" b="1">
                <a:solidFill>
                  <a:srgbClr val="0E2A38"/>
                </a:solidFill>
                <a:latin typeface="Arial"/>
              </a:rPr>
              <a:t>بطء تسعير المناقصات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A4650"/>
                </a:solidFill>
                <a:latin typeface="Arial"/>
              </a:rPr>
              <a:t>تجهيز عروض غير دقيقة وضياع فرص الترسية.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925312"/>
            <a:ext cx="11643055" cy="713232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841175" y="5925312"/>
            <a:ext cx="76200" cy="71323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971032"/>
            <a:ext cx="11277295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Arial"/>
              </a:rPr>
              <a:t>القرار / السياسة المطلوبة</a:t>
            </a:r>
          </a:p>
          <a:p>
            <a:pPr rtl="1" algn="r"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المشتريات ليست مركز صرف فحسب، بل مصدر وفر وحماية للتكلفة متى أُحسِن تنظيمها.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Arial"/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91295" y="182880"/>
            <a:ext cx="2971800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إدارة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6304"/>
            <a:ext cx="8595360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أولاً: تنظيم الطلبات والدورة المستندية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76656"/>
            <a:ext cx="85953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المشكلة ← الأثر ← الحل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325880"/>
          <a:ext cx="11460173" cy="5047488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4167336"/>
                <a:gridCol w="2936077"/>
                <a:gridCol w="4356760"/>
              </a:tblGrid>
              <a:tr h="841248"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الحل المقترح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الأثر على العمل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المشكلة / الوضع الحالي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نموذج طلب شراء موحّد إلزامي موقّع من صاحب الصلاحية؛ ولا يُعتدّ بأي طلب خارجه.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غياب الالتزام والتتبّع وإرباك التنفيذ.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طلبات تصل عبر البريد والواتساب بصفة «عاجل» دون نموذج رسمي.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قصر صفة «عاجل» على ما يعتمده مدير الإدارة الطالبة خطياً بمبرّر، مع سقف عددي.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فتور استجابة الموردين وارتفاع الأسعار.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الإفراط في وصف الطلبات بالعاجل وأغلبها لا يُستكمل بأمر شراء.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مدة معيارية للبتّ (3 أيام عمل)، ولوحة متابعة بحالة كل طلب، وإغلاق المنتفي.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تأخّر التوريد وتعطّل الأعمال.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طلبات تبقى معلّقة دون اعتماد أو تحويل للمورد لفترات طويلة.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دورة مستندية موثّقة، ومصفوفة صلاحيات تحدّد الموقّع والمعتمِد لكل قيمة.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عشوائية وتأخير وتكرار للإجراءات.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غموض في الدورة المستندية ومن يوقّع ومن يعتمد.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إلزام إرفاق صورة البند أو اسم العلامة التجارية، واعتماد قناة رسمية واحدة للمستندات.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أخطاء في التوريد وإعادة عمل.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طلبات بمواصفات ناقصة وتشتّت قنوات المستندات.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Arial"/>
              </a:rP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91295" y="182880"/>
            <a:ext cx="2971800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إدارة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6304"/>
            <a:ext cx="8595360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ثانياً: ازدواجية التوريد والشراء المباشر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76656"/>
            <a:ext cx="85953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حماية الإنفاق وتوحيد القناة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371600"/>
          <a:ext cx="11460173" cy="4800600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4167336"/>
                <a:gridCol w="2936077"/>
                <a:gridCol w="4356760"/>
              </a:tblGrid>
              <a:tr h="960120"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الحل المقترح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الأثر على العمل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المشكلة / الوضع الحالي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2E6B3E"/>
                          </a:solidFill>
                          <a:latin typeface="Arial"/>
                        </a:rPr>
                        <a:t>إشعار فوري من الإدارة الطالبة عند انتفاء الحاجة، ومنع أي توريد موازٍ بعد إصدار أمر الشراء.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A4650"/>
                          </a:solidFill>
                          <a:latin typeface="Arial"/>
                        </a:rPr>
                        <a:t>التزام مالي مزدوج وإرباك المورد وإهدار الجهد.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Arial"/>
                        </a:rPr>
                        <a:t>تُكلَّف المشتريات بالتوريد ثم يتبيّن أن الصيانة وردّت الصنف من مورد أجل.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2E6B3E"/>
                          </a:solidFill>
                          <a:latin typeface="Arial"/>
                        </a:rPr>
                        <a:t>حصر كل شراء وتوريد لقطاعات المجموعة عبر المشتريات حصراً بقرار من الإدارة العليا.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A4650"/>
                          </a:solidFill>
                          <a:latin typeface="Arial"/>
                        </a:rPr>
                        <a:t>فقدان الرقابة وضعف التفاوض وتعدّد قنوات المورد.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Arial"/>
                        </a:rPr>
                        <a:t>تنفيذ عمليات شراء مباشرة خارج إدارة المشتريات.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2E6B3E"/>
                          </a:solidFill>
                          <a:latin typeface="Arial"/>
                        </a:rPr>
                        <a:t>إدراج هؤلاء الموردين ضمن قائمة معتمدة موحّدة تُدار عبر المشتريات.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A4650"/>
                          </a:solidFill>
                          <a:latin typeface="Arial"/>
                        </a:rPr>
                        <a:t>ازدواج الحسابات وصعوبة التدقيق.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Arial"/>
                        </a:rPr>
                        <a:t>التعامل مع موردين بعينهم والشراء منهم مباشرة دون الرجوع للمشتريات.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2E6B3E"/>
                          </a:solidFill>
                          <a:latin typeface="Arial"/>
                        </a:rPr>
                        <a:t>جعل فحص رصيد المستودع خطوة إلزامية قبل أي طلب شراء.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A4650"/>
                          </a:solidFill>
                          <a:latin typeface="Arial"/>
                        </a:rPr>
                        <a:t>شراء أصناف متوفّرة أصلاً في المخزون.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Arial"/>
                        </a:rPr>
                        <a:t>عدم ربط الطلب برصيد المستودع قبل الشراء.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Arial"/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91295" y="182880"/>
            <a:ext cx="2971800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إدارة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6304"/>
            <a:ext cx="8595360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ثالثاً: تسعير المناقصات وسجل الأسعار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76656"/>
            <a:ext cx="85953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سجل الأسعار لتسعير المناقصات فقط — لا بديل عن العروض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371600"/>
          <a:ext cx="11460173" cy="4800600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4167336"/>
                <a:gridCol w="2936077"/>
                <a:gridCol w="4356760"/>
              </a:tblGrid>
              <a:tr h="960120"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الحل المقترح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الأثر على العمل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المشكلة / الوضع الحالي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إنشاء سجل أسعار مرجعي يُستعان به عند إعداد عروض المناقصات فقط (دون أن يُستخدم في الشراء أو يُغني عن العروض).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بطء تجهيز عروض المناقصات وتفويت فرص الترسية.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إعادة تجميع الأسعار يدوياً عند تسعير كل مناقصة رغم توفّر بيانات سابقة.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تغذية السجل آلياً من فواتير الشراء والنظام المالي وتحديثه دورياً.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غياب مرجع يدعم دقة تسعير المناقصات.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لا يوجد تاريخ لأسعار المواد رغم الشراء المستمر.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تخصيص مدة معيارية كافية لتسعير المناقصات تُتّفق عليها مسبقاً.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أسعار غير دقيقة وضياع فرص التقديم.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تسعير المناقصات تحت ضغط وقت غير كافٍ.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الفصل التام: الشراء يخضع دائماً لثلاثة عروض، والسجل أداة لتسعير المناقصات حصراً.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إضعاف الرقابة على الشراء عند الخلط بينهما.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الخلط بين سجل الأسعار وعروض الشراء.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Arial"/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91295" y="182880"/>
            <a:ext cx="2971800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إدارة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6304"/>
            <a:ext cx="8595360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رابعاً: الموردون والعلاقات التجارية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76656"/>
            <a:ext cx="85953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استعادة الثقة وضبط التعامل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325880"/>
          <a:ext cx="11460173" cy="5047488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4167336"/>
                <a:gridCol w="2936077"/>
                <a:gridCol w="4356760"/>
              </a:tblGrid>
              <a:tr h="841248"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الحل المقترح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الأثر على العمل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المشكلة / الوضع الحالي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ضبط صفة «العاجل» والالتزام بإغلاق الطلبات يعيدان جدية الموردين.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تراجع الاستجابة وجودة العروض.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تآكل مصداقية طلباتنا لدى الموردين وفتور تجاوبهم.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إبرام عقود إطارية سنوية بأسعار ثابتة مع الموردين الرئيسيين (بعد ترسيتها بثلاثة عروض).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أسعار متذبذبة وتفاوض متكرّر.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الطلبات الشهرية المتكررة وكبيرة الحجم بلا عقود.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ثلاثة عروض للمرة الأولى ثم اعتماد مورد ثابت بعقد للطلبات المستديمة.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بطء متكرّر في التوريد.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الطلبات المستديمة لقطاعات المجموعة تُسعّر كل مرة.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تسليم المشتريات حصراً بالمشاكل القائمة والشخص المسؤول لتوحيد التعامل.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تضارب وتكرار في معالجة المشاكل.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مشاكل مع الموردين موزّعة على إدارات متعددة.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تسليم المشتريات كشف حساب بالمديونية لتسويتها ضمن خطة.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مخاطر ائتمانية وتعليق توريد.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مديونيات على الصيانة والتشغيل لدى الموردين.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Arial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91295" y="182880"/>
            <a:ext cx="2971800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إدارة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6304"/>
            <a:ext cx="8595360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خامساً: تنظيم العلاقة مع الصيانة والتشغيل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76656"/>
            <a:ext cx="85953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إطار واضح للأدوار والمسارات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417320"/>
          <a:ext cx="11460173" cy="4800600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4167336"/>
                <a:gridCol w="2936077"/>
                <a:gridCol w="4356760"/>
              </a:tblGrid>
              <a:tr h="960120"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الحل المقترح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الأثر على العمل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المشكلة / الوضع الحالي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2E6B3E"/>
                          </a:solidFill>
                          <a:latin typeface="Arial"/>
                        </a:rPr>
                        <a:t>اتفاقية تنظيمية تحدّد المسارات: الطلبات العادية والعاجلة والموردون ومقاولو الباطن.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A4650"/>
                          </a:solidFill>
                          <a:latin typeface="Arial"/>
                        </a:rPr>
                        <a:t>تداخل المسؤوليات والاحتكاك.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Arial"/>
                        </a:rPr>
                        <a:t>غياب إطار منظّم للعلاقة بين الإدارتين.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2E6B3E"/>
                          </a:solidFill>
                          <a:latin typeface="Arial"/>
                        </a:rPr>
                        <a:t>تعيين منسّق إداري من الصيانة والتشغيل على دراية بآلية المشتريات.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A4650"/>
                          </a:solidFill>
                          <a:latin typeface="Arial"/>
                        </a:rPr>
                        <a:t>تشتّت التواصل وتعدّد المرجعيات.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Arial"/>
                        </a:rPr>
                        <a:t>لا توجد جهة تنسيق واحدة من الصيانة والتشغيل.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2E6B3E"/>
                          </a:solidFill>
                          <a:latin typeface="Arial"/>
                        </a:rPr>
                        <a:t>جعل مشرفي الشراء في المواقع تابعين إشرافياً لإدارة المشتريات.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A4650"/>
                          </a:solidFill>
                          <a:latin typeface="Arial"/>
                        </a:rPr>
                        <a:t>شراء ميداني غير منضبط.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Arial"/>
                        </a:rPr>
                        <a:t>مشرفو الشراء بالموقع خارج مظلة المشتريات.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2E6B3E"/>
                          </a:solidFill>
                          <a:latin typeface="Arial"/>
                        </a:rPr>
                        <a:t>توضيح آلية موحّدة لكل نوع طلب يلتزم بها الطرفان.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A4650"/>
                          </a:solidFill>
                          <a:latin typeface="Arial"/>
                        </a:rPr>
                        <a:t>ارتباك في التنفيذ وتأخير.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Arial"/>
                        </a:rPr>
                        <a:t>اختلاف آلية التعامل حسب نوع الطلب.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Arial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91295" y="182880"/>
            <a:ext cx="2971800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إدارة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6304"/>
            <a:ext cx="8595360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سادساً: العهد والموارد التشغيلية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76656"/>
            <a:ext cx="85953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معالجة الملفات العالقة وتمكين المشتريات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417320"/>
          <a:ext cx="11460173" cy="4800600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4167336"/>
                <a:gridCol w="2936077"/>
                <a:gridCol w="4356760"/>
              </a:tblGrid>
              <a:tr h="960120"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الحل المقترح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الأثر على العمل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المشكلة / الوضع الحالي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2E6B3E"/>
                          </a:solidFill>
                          <a:latin typeface="Arial"/>
                        </a:rPr>
                        <a:t>نقل عهدة قصر الياسمين إلى مسؤول المشروع باعتباره المنفّذ الفعلي للشراء.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A4650"/>
                          </a:solidFill>
                          <a:latin typeface="Arial"/>
                        </a:rPr>
                        <a:t>عدم تطابق المسؤولية مع المنفّذ.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Arial"/>
                        </a:rPr>
                        <a:t>عهدة قصر الياسمين مسجّلة على مندوب المشتريات رغم أن الشراء عبر المشروع.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2E6B3E"/>
                          </a:solidFill>
                          <a:latin typeface="Arial"/>
                        </a:rPr>
                        <a:t>اعتماد طلبات البنية التحتية ضمن عقد إطاري وسقف محدّد لتسريع تنفيذها.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A4650"/>
                          </a:solidFill>
                          <a:latin typeface="Arial"/>
                        </a:rPr>
                        <a:t>تأخّر احتياجات متكررة منخفضة القيمة.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Arial"/>
                        </a:rPr>
                        <a:t>طلبات البنية التحتية أسبوعية صغيرة متكررة وليست تحت سقف مورد واحد.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2E6B3E"/>
                          </a:solidFill>
                          <a:latin typeface="Arial"/>
                        </a:rPr>
                        <a:t>تخصيص عهدة مالية مستديمة للمشتريات باعتماد مديرها للحالات الصغيرة.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A4650"/>
                          </a:solidFill>
                          <a:latin typeface="Arial"/>
                        </a:rPr>
                        <a:t>بطء تنفيذ البنود البسيطة العاجلة.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Arial"/>
                        </a:rPr>
                        <a:t>لا توجد عهدة نقدية لدى المشتريات.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2E6B3E"/>
                          </a:solidFill>
                          <a:latin typeface="Arial"/>
                        </a:rPr>
                        <a:t>تعيين سائق تابع لإدارة المشتريات لتوريد الطلبات إلى المواقع.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A4650"/>
                          </a:solidFill>
                          <a:latin typeface="Arial"/>
                        </a:rPr>
                        <a:t>تأخّر التسليم والاعتماد على الغير.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Arial"/>
                        </a:rPr>
                        <a:t>لا توجد وسيلة توريد مخصّصة للمواقع.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Arial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91295" y="182880"/>
            <a:ext cx="2971800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إدارة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6304"/>
            <a:ext cx="8595360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سابعاً: التكامل مع الإدارة المالية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76656"/>
            <a:ext cx="85953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إزالة اختناق التحويل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554480"/>
          <a:ext cx="11460173" cy="4206240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4167336"/>
                <a:gridCol w="2936077"/>
                <a:gridCol w="4356760"/>
              </a:tblGrid>
              <a:tr h="1051560"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الحل المقترح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الأثر على العمل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المشكلة / الوضع الحالي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rtl="1" algn="r"/>
                      <a:r>
                        <a:rPr sz="1300" b="0">
                          <a:solidFill>
                            <a:srgbClr val="2E6B3E"/>
                          </a:solidFill>
                          <a:latin typeface="Arial"/>
                        </a:rPr>
                        <a:t>التزام زمني للتحويل (3–5 أيام عمل، و24 ساعة للطوارئ المعتمدة) ودفعات أسبوعية مجمّعة.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300" b="0">
                          <a:solidFill>
                            <a:srgbClr val="3A4650"/>
                          </a:solidFill>
                          <a:latin typeface="Arial"/>
                        </a:rPr>
                        <a:t>تعطّل الموردين وتحميل المشتريات تبعة التأخير.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300" b="1">
                          <a:solidFill>
                            <a:srgbClr val="0E2A38"/>
                          </a:solidFill>
                          <a:latin typeface="Arial"/>
                        </a:rPr>
                        <a:t>بطء استجابة الإدارة المالية لتحويلات الموردين.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rtl="1" algn="r"/>
                      <a:r>
                        <a:rPr sz="1300" b="0">
                          <a:solidFill>
                            <a:srgbClr val="2E6B3E"/>
                          </a:solidFill>
                          <a:latin typeface="Arial"/>
                        </a:rPr>
                        <a:t>تغذية سجل أسعار المناقصات من فواتير الشراء في النظام المالي أولاً بأول.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300" b="0">
                          <a:solidFill>
                            <a:srgbClr val="3A4650"/>
                          </a:solidFill>
                          <a:latin typeface="Arial"/>
                        </a:rPr>
                        <a:t>ضعف دقة تسعير المناقصات.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300" b="1">
                          <a:solidFill>
                            <a:srgbClr val="0E2A38"/>
                          </a:solidFill>
                          <a:latin typeface="Arial"/>
                        </a:rPr>
                        <a:t>عدم تغذية سجل الأسعار من النظام المالي.</a:t>
                      </a:r>
                    </a:p>
                  </a:txBody>
                  <a:tcPr anchor="ctr" marL="76200" marR="76200" marT="50800" marB="50800">
                    <a:solidFill>
                      <a:srgbClr val="EFEAD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rtl="1" algn="r"/>
                      <a:r>
                        <a:rPr sz="1300" b="0">
                          <a:solidFill>
                            <a:srgbClr val="2E6B3E"/>
                          </a:solidFill>
                          <a:latin typeface="Arial"/>
                        </a:rPr>
                        <a:t>اعتماد مسار طوارئ مالي بموافقة مسبقة موثّقة وسقف محدّد.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300" b="0">
                          <a:solidFill>
                            <a:srgbClr val="3A4650"/>
                          </a:solidFill>
                          <a:latin typeface="Arial"/>
                        </a:rPr>
                        <a:t>استخدام صفة «العاجل» للالتفاف على الإجراءات.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300" b="1">
                          <a:solidFill>
                            <a:srgbClr val="0E2A38"/>
                          </a:solidFill>
                          <a:latin typeface="Arial"/>
                        </a:rPr>
                        <a:t>غياب مسار طوارئ مالي محكوم.</a:t>
                      </a:r>
                    </a:p>
                  </a:txBody>
                  <a:tcPr anchor="ctr"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Arial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91295" y="182880"/>
            <a:ext cx="2971800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إدارة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6304"/>
            <a:ext cx="8595360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سياسات إدارة المشتريات الحاكمة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76656"/>
            <a:ext cx="85953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الإطار الذي تُبنى عليه الإجراءات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298448"/>
            <a:ext cx="5638647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41175" y="1298448"/>
            <a:ext cx="76200" cy="69494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8455" y="1335024"/>
            <a:ext cx="5364327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100"/>
              </a:spcAft>
            </a:pPr>
            <a:r>
              <a:rPr sz="1400" b="1">
                <a:solidFill>
                  <a:srgbClr val="0E2A38"/>
                </a:solidFill>
                <a:latin typeface="Arial"/>
              </a:rPr>
              <a:t>القناة الموحّدة</a:t>
            </a:r>
          </a:p>
          <a:p>
            <a:pPr rtl="1" algn="r">
              <a:spcAft>
                <a:spcPts val="600"/>
              </a:spcAft>
            </a:pPr>
            <a:r>
              <a:rPr sz="1150" b="0">
                <a:solidFill>
                  <a:srgbClr val="3A4650"/>
                </a:solidFill>
                <a:latin typeface="Arial"/>
              </a:rPr>
              <a:t>كل شراء وتوريد لقطاعات المجموعة عبر المشتريات حصراً.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298448"/>
            <a:ext cx="5638647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11087" y="1298448"/>
            <a:ext cx="76200" cy="69494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35024"/>
            <a:ext cx="5364327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100"/>
              </a:spcAft>
            </a:pPr>
            <a:r>
              <a:rPr sz="1400" b="1">
                <a:solidFill>
                  <a:srgbClr val="0E2A38"/>
                </a:solidFill>
                <a:latin typeface="Arial"/>
              </a:rPr>
              <a:t>ثلاثة عروض إلزامية</a:t>
            </a:r>
          </a:p>
          <a:p>
            <a:pPr rtl="1" algn="r">
              <a:spcAft>
                <a:spcPts val="600"/>
              </a:spcAft>
            </a:pPr>
            <a:r>
              <a:rPr sz="1150" b="0">
                <a:solidFill>
                  <a:srgbClr val="3A4650"/>
                </a:solidFill>
                <a:latin typeface="Arial"/>
              </a:rPr>
              <a:t>لكل طلب شراء مهما كان حجمه؛ والاستثناءات موثّقة فقط.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2084832"/>
            <a:ext cx="5638647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41175" y="2084832"/>
            <a:ext cx="76200" cy="69494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8455" y="2121408"/>
            <a:ext cx="5364327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100"/>
              </a:spcAft>
            </a:pPr>
            <a:r>
              <a:rPr sz="1400" b="1">
                <a:solidFill>
                  <a:srgbClr val="0E2A38"/>
                </a:solidFill>
                <a:latin typeface="Arial"/>
              </a:rPr>
              <a:t>مصفوفة الصلاحيات</a:t>
            </a:r>
          </a:p>
          <a:p>
            <a:pPr rtl="1" algn="r">
              <a:spcAft>
                <a:spcPts val="600"/>
              </a:spcAft>
            </a:pPr>
            <a:r>
              <a:rPr sz="1150" b="0">
                <a:solidFill>
                  <a:srgbClr val="3A4650"/>
                </a:solidFill>
                <a:latin typeface="Arial"/>
              </a:rPr>
              <a:t>الاعتماد حسب القيمة وصاحب الصلاحية المحدّد.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084832"/>
            <a:ext cx="5638647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11087" y="2084832"/>
            <a:ext cx="76200" cy="69494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121408"/>
            <a:ext cx="5364327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100"/>
              </a:spcAft>
            </a:pPr>
            <a:r>
              <a:rPr sz="1400" b="1">
                <a:solidFill>
                  <a:srgbClr val="0E2A38"/>
                </a:solidFill>
                <a:latin typeface="Arial"/>
              </a:rPr>
              <a:t>الدورة المستندية</a:t>
            </a:r>
          </a:p>
          <a:p>
            <a:pPr rtl="1" algn="r">
              <a:spcAft>
                <a:spcPts val="600"/>
              </a:spcAft>
            </a:pPr>
            <a:r>
              <a:rPr sz="1150" b="0">
                <a:solidFill>
                  <a:srgbClr val="3A4650"/>
                </a:solidFill>
                <a:latin typeface="Arial"/>
              </a:rPr>
              <a:t>مسار موحّد موثّق من الاحتياج حتى الإغلاق.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8727" y="2871216"/>
            <a:ext cx="5638647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841175" y="2871216"/>
            <a:ext cx="76200" cy="69494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8455" y="2907792"/>
            <a:ext cx="5364327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100"/>
              </a:spcAft>
            </a:pPr>
            <a:r>
              <a:rPr sz="1400" b="1">
                <a:solidFill>
                  <a:srgbClr val="0E2A38"/>
                </a:solidFill>
                <a:latin typeface="Arial"/>
              </a:rPr>
              <a:t>اعتماد الموردين</a:t>
            </a:r>
          </a:p>
          <a:p>
            <a:pPr rtl="1" algn="r">
              <a:spcAft>
                <a:spcPts val="600"/>
              </a:spcAft>
            </a:pPr>
            <a:r>
              <a:rPr sz="1150" b="0">
                <a:solidFill>
                  <a:srgbClr val="3A4650"/>
                </a:solidFill>
                <a:latin typeface="Arial"/>
              </a:rPr>
              <a:t>قائمة موردين معتمدة وتقييم دوري لأدائهم.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871216"/>
            <a:ext cx="5638647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11087" y="2871216"/>
            <a:ext cx="76200" cy="69494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907792"/>
            <a:ext cx="5364327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100"/>
              </a:spcAft>
            </a:pPr>
            <a:r>
              <a:rPr sz="1400" b="1">
                <a:solidFill>
                  <a:srgbClr val="0E2A38"/>
                </a:solidFill>
                <a:latin typeface="Arial"/>
              </a:rPr>
              <a:t>العقود الإطارية</a:t>
            </a:r>
          </a:p>
          <a:p>
            <a:pPr rtl="1" algn="r">
              <a:spcAft>
                <a:spcPts val="600"/>
              </a:spcAft>
            </a:pPr>
            <a:r>
              <a:rPr sz="1150" b="0">
                <a:solidFill>
                  <a:srgbClr val="3A4650"/>
                </a:solidFill>
                <a:latin typeface="Arial"/>
              </a:rPr>
              <a:t>للطلبات المتكررة والمستديمة بأسعار ثابتة.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78727" y="3657600"/>
            <a:ext cx="5638647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841175" y="3657600"/>
            <a:ext cx="76200" cy="69494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8455" y="3694176"/>
            <a:ext cx="5364327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100"/>
              </a:spcAft>
            </a:pPr>
            <a:r>
              <a:rPr sz="1400" b="1">
                <a:solidFill>
                  <a:srgbClr val="0E2A38"/>
                </a:solidFill>
                <a:latin typeface="Arial"/>
              </a:rPr>
              <a:t>سجل أسعار المناقصات</a:t>
            </a:r>
          </a:p>
          <a:p>
            <a:pPr rtl="1" algn="r">
              <a:spcAft>
                <a:spcPts val="600"/>
              </a:spcAft>
            </a:pPr>
            <a:r>
              <a:rPr sz="1150" b="0">
                <a:solidFill>
                  <a:srgbClr val="3A4650"/>
                </a:solidFill>
                <a:latin typeface="Arial"/>
              </a:rPr>
              <a:t>مرجع لتسعير المناقصات فقط، لا للشراء ولا بديلاً عن العروض.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657600"/>
            <a:ext cx="5638647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11087" y="3657600"/>
            <a:ext cx="76200" cy="69494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3694176"/>
            <a:ext cx="5364327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100"/>
              </a:spcAft>
            </a:pPr>
            <a:r>
              <a:rPr sz="1400" b="1">
                <a:solidFill>
                  <a:srgbClr val="0E2A38"/>
                </a:solidFill>
                <a:latin typeface="Arial"/>
              </a:rPr>
              <a:t>المشتريات العاجلة</a:t>
            </a:r>
          </a:p>
          <a:p>
            <a:pPr rtl="1" algn="r">
              <a:spcAft>
                <a:spcPts val="600"/>
              </a:spcAft>
            </a:pPr>
            <a:r>
              <a:rPr sz="1150" b="0">
                <a:solidFill>
                  <a:srgbClr val="3A4650"/>
                </a:solidFill>
                <a:latin typeface="Arial"/>
              </a:rPr>
              <a:t>مسار طوارئ محكوم بموافقة مسبقة موثّقة.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78727" y="4443984"/>
            <a:ext cx="5638647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841175" y="4443984"/>
            <a:ext cx="76200" cy="69494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8455" y="4480560"/>
            <a:ext cx="5364327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100"/>
              </a:spcAft>
            </a:pPr>
            <a:r>
              <a:rPr sz="1400" b="1">
                <a:solidFill>
                  <a:srgbClr val="0E2A38"/>
                </a:solidFill>
                <a:latin typeface="Arial"/>
              </a:rPr>
              <a:t>العهد المالية</a:t>
            </a:r>
          </a:p>
          <a:p>
            <a:pPr rtl="1" algn="r">
              <a:spcAft>
                <a:spcPts val="600"/>
              </a:spcAft>
            </a:pPr>
            <a:r>
              <a:rPr sz="1150" b="0">
                <a:solidFill>
                  <a:srgbClr val="3A4650"/>
                </a:solidFill>
                <a:latin typeface="Arial"/>
              </a:rPr>
              <a:t>عهدة مستديمة للمشتريات بضوابط صرف واضحة.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443984"/>
            <a:ext cx="5638647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11087" y="4443984"/>
            <a:ext cx="76200" cy="69494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4480560"/>
            <a:ext cx="5364327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100"/>
              </a:spcAft>
            </a:pPr>
            <a:r>
              <a:rPr sz="1400" b="1">
                <a:solidFill>
                  <a:srgbClr val="0E2A38"/>
                </a:solidFill>
                <a:latin typeface="Arial"/>
              </a:rPr>
              <a:t>الاستثناءات الموثّقة</a:t>
            </a:r>
          </a:p>
          <a:p>
            <a:pPr rtl="1" algn="r">
              <a:spcAft>
                <a:spcPts val="600"/>
              </a:spcAft>
            </a:pPr>
            <a:r>
              <a:rPr sz="1150" b="0">
                <a:solidFill>
                  <a:srgbClr val="3A4650"/>
                </a:solidFill>
                <a:latin typeface="Arial"/>
              </a:rPr>
              <a:t>النثريات والبنية التحتية ضمن سقف باعتماد مدير المشتريات.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78727" y="5230368"/>
            <a:ext cx="5638647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841175" y="5230368"/>
            <a:ext cx="76200" cy="69494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8455" y="5266944"/>
            <a:ext cx="5364327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100"/>
              </a:spcAft>
            </a:pPr>
            <a:r>
              <a:rPr sz="1400" b="1">
                <a:solidFill>
                  <a:srgbClr val="0E2A38"/>
                </a:solidFill>
                <a:latin typeface="Arial"/>
              </a:rPr>
              <a:t>المطابقة قبل الصرف</a:t>
            </a:r>
          </a:p>
          <a:p>
            <a:pPr rtl="1" algn="r">
              <a:spcAft>
                <a:spcPts val="600"/>
              </a:spcAft>
            </a:pPr>
            <a:r>
              <a:rPr sz="1150" b="0">
                <a:solidFill>
                  <a:srgbClr val="3A4650"/>
                </a:solidFill>
                <a:latin typeface="Arial"/>
              </a:rPr>
              <a:t>مطابقة الطلب وأمر الشراء والفاتورة والاستلام.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230368"/>
            <a:ext cx="5638647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11087" y="5230368"/>
            <a:ext cx="76200" cy="69494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266944"/>
            <a:ext cx="5364327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100"/>
              </a:spcAft>
            </a:pPr>
            <a:r>
              <a:rPr sz="1400" b="1">
                <a:solidFill>
                  <a:srgbClr val="0E2A38"/>
                </a:solidFill>
                <a:latin typeface="Arial"/>
              </a:rPr>
              <a:t>النزاهة والتوثيق</a:t>
            </a:r>
          </a:p>
          <a:p>
            <a:pPr rtl="1" algn="r">
              <a:spcAft>
                <a:spcPts val="600"/>
              </a:spcAft>
            </a:pPr>
            <a:r>
              <a:rPr sz="1150" b="0">
                <a:solidFill>
                  <a:srgbClr val="3A4650"/>
                </a:solidFill>
                <a:latin typeface="Arial"/>
              </a:rPr>
              <a:t>سرية العروض ومنع تعارض المصالح وأرشفة كاملة.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Arial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91295" y="182880"/>
            <a:ext cx="2971800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إدارة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6304"/>
            <a:ext cx="8595360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الدورة الداخلية الكاملة للمشتريات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76656"/>
            <a:ext cx="85953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مسار واحد إلزامي من الاحتياج حتى الإغلاق</a:t>
            </a:r>
          </a:p>
        </p:txBody>
      </p:sp>
      <p:sp>
        <p:nvSpPr>
          <p:cNvPr id="8" name="Rectangle 7"/>
          <p:cNvSpPr/>
          <p:nvPr/>
        </p:nvSpPr>
        <p:spPr>
          <a:xfrm>
            <a:off x="9795967" y="1600200"/>
            <a:ext cx="2121408" cy="9601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95967" y="1600200"/>
            <a:ext cx="2121408" cy="9601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نشوء الاحتياج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6963" y="1600200"/>
            <a:ext cx="259003" cy="9601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6B747C"/>
                </a:solidFill>
                <a:latin typeface="Arial"/>
              </a:rPr>
              <a:t>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15555" y="1600200"/>
            <a:ext cx="2121408" cy="9601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5555" y="1600200"/>
            <a:ext cx="2121408" cy="9601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طلب شراء رسمي بالمواصفات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6551" y="1600200"/>
            <a:ext cx="259003" cy="9601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6B747C"/>
                </a:solidFill>
                <a:latin typeface="Arial"/>
              </a:rPr>
              <a:t>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5143" y="1600200"/>
            <a:ext cx="2121408" cy="9601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5143" y="1600200"/>
            <a:ext cx="2121408" cy="9601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فحص رصيد المستودع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6139" y="1600200"/>
            <a:ext cx="259003" cy="9601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6B747C"/>
                </a:solidFill>
                <a:latin typeface="Arial"/>
              </a:rPr>
              <a:t>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4731" y="1600200"/>
            <a:ext cx="2121408" cy="96012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4731" y="1600200"/>
            <a:ext cx="2121408" cy="9601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0E2A38"/>
                </a:solidFill>
                <a:latin typeface="Arial"/>
              </a:rPr>
              <a:t>طلب ثلاثة عروض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1600200"/>
            <a:ext cx="259003" cy="9601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6B747C"/>
                </a:solidFill>
                <a:latin typeface="Arial"/>
              </a:rPr>
              <a:t>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600200"/>
            <a:ext cx="2121408" cy="96012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600200"/>
            <a:ext cx="2121408" cy="9601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0E2A38"/>
                </a:solidFill>
                <a:latin typeface="Arial"/>
              </a:rPr>
              <a:t>تحليل العروض والمقارنة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560320"/>
            <a:ext cx="2121408" cy="8686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6B747C"/>
                </a:solidFill>
                <a:latin typeface="Arial"/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95967" y="3429000"/>
            <a:ext cx="2121408" cy="96012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5967" y="3429000"/>
            <a:ext cx="2121408" cy="9601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0E2A38"/>
                </a:solidFill>
                <a:latin typeface="Arial"/>
              </a:rPr>
              <a:t>الاعتماد حسب الصلاحية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6963" y="3429000"/>
            <a:ext cx="259003" cy="9601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6B747C"/>
                </a:solidFill>
                <a:latin typeface="Arial"/>
              </a:rPr>
              <a:t>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15555" y="3429000"/>
            <a:ext cx="2121408" cy="9601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15555" y="3429000"/>
            <a:ext cx="2121408" cy="9601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إصدار أمر الشراء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6551" y="3429000"/>
            <a:ext cx="259003" cy="9601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6B747C"/>
                </a:solidFill>
                <a:latin typeface="Arial"/>
              </a:rPr>
              <a:t>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35143" y="3429000"/>
            <a:ext cx="2121408" cy="9601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35143" y="3429000"/>
            <a:ext cx="2121408" cy="9601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التوريد والاستلام والمطابقة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6139" y="3429000"/>
            <a:ext cx="259003" cy="9601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6B747C"/>
                </a:solidFill>
                <a:latin typeface="Arial"/>
              </a:rPr>
              <a:t>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54731" y="3429000"/>
            <a:ext cx="2121408" cy="9601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4731" y="3429000"/>
            <a:ext cx="2121408" cy="9601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الصرف للمورد ضمن المدة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95728" y="3429000"/>
            <a:ext cx="259003" cy="9601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6B747C"/>
                </a:solidFill>
                <a:latin typeface="Arial"/>
              </a:rPr>
              <a:t>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429000"/>
            <a:ext cx="2121408" cy="9601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3429000"/>
            <a:ext cx="2121408" cy="9601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الإغلاق والأرشفة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25312"/>
            <a:ext cx="11643055" cy="713232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841175" y="5925312"/>
            <a:ext cx="76200" cy="71323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971032"/>
            <a:ext cx="11277295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Arial"/>
              </a:rPr>
              <a:t>القرار / السياسة المطلوبة</a:t>
            </a:r>
          </a:p>
          <a:p>
            <a:pPr rtl="1" algn="r"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ثلاثة عروض إلزامية في كل دورة، ومنع أي توريد خارج هذا المسار أو موازٍ بعد أمر الشراء.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Arial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91295" y="182880"/>
            <a:ext cx="2971800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إدارة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6304"/>
            <a:ext cx="8595360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إجراءات الدورة الداخلية — من الاحتياج إلى الاعتماد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76656"/>
            <a:ext cx="85953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المرحلة والإجراء والمسؤول والمستند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417320"/>
          <a:ext cx="11460172" cy="4535424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2367804"/>
                <a:gridCol w="4356760"/>
                <a:gridCol w="2273092"/>
                <a:gridCol w="2462516"/>
              </a:tblGrid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المرحلة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الإجراء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المسؤول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المستند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1) الاحتياج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تحديد الحاجة وتعبئة طلب الشراء بالمواصفات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0E2A38"/>
                          </a:solidFill>
                          <a:latin typeface="Arial"/>
                        </a:rPr>
                        <a:t>الإدارة الطالبة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نموذج طلب شراء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2) التسجيل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استلام الطلب ومنحه رقماً مرجعياً ومراجعة اكتماله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0E2A38"/>
                          </a:solidFill>
                          <a:latin typeface="Arial"/>
                        </a:rPr>
                        <a:t>المشتريات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سجل الطلبات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3) فحص المخزون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التأكد من عدم توفّر الصنف في المستودع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0E2A38"/>
                          </a:solidFill>
                          <a:latin typeface="Arial"/>
                        </a:rPr>
                        <a:t>المستودعات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تقرير الرصيد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4) طلب العروض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مخاطبة ثلاثة موردين معتمدين على الأقل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0E2A38"/>
                          </a:solidFill>
                          <a:latin typeface="Arial"/>
                        </a:rPr>
                        <a:t>المشتريات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طلب عروض أسعار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5) تحليل العروض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إعداد جدول المقارنة فنياً ومالياً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0E2A38"/>
                          </a:solidFill>
                          <a:latin typeface="Arial"/>
                        </a:rPr>
                        <a:t>المشتريات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جدول المفاضلة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6) التوصية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ترشيح المورد الأنسب مع المبرّر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0E2A38"/>
                          </a:solidFill>
                          <a:latin typeface="Arial"/>
                        </a:rPr>
                        <a:t>المشتريات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محضر توصية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7) الاعتماد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الموافقة حسب مصفوفة الصلاحيات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0E2A38"/>
                          </a:solidFill>
                          <a:latin typeface="Arial"/>
                        </a:rPr>
                        <a:t>صاحب الصلاحية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اعتماد موقّع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Arial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91295" y="182880"/>
            <a:ext cx="2971800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إدارة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6304"/>
            <a:ext cx="8595360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إجراءات الدورة الداخلية — من أمر الشراء إلى الإغلاق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76656"/>
            <a:ext cx="85953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المرحلة والإجراء والمسؤول والمستند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417320"/>
          <a:ext cx="11460172" cy="4535424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2367804"/>
                <a:gridCol w="4356760"/>
                <a:gridCol w="2273092"/>
                <a:gridCol w="2462516"/>
              </a:tblGrid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المرحلة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الإجراء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المسؤول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المستند</a:t>
                      </a:r>
                    </a:p>
                  </a:txBody>
                  <a:tcPr anchor="ctr" marL="63500" marR="63500" marT="38100" marB="38100">
                    <a:solidFill>
                      <a:srgbClr val="0E2A3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8) أمر الشراء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تحرير أمر الشراء المعتمد وإصداره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0E2A38"/>
                          </a:solidFill>
                          <a:latin typeface="Arial"/>
                        </a:rPr>
                        <a:t>المشتريات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أمر الشراء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9) التعاقد والإشعار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إشعار المورد وتأكيد الشروط والمدة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0E2A38"/>
                          </a:solidFill>
                          <a:latin typeface="Arial"/>
                        </a:rPr>
                        <a:t>المشتريات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أمر شراء / عقد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10) المتابعة والتوريد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متابعة المورد حتى التسليم في الموعد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0E2A38"/>
                          </a:solidFill>
                          <a:latin typeface="Arial"/>
                        </a:rPr>
                        <a:t>المشتريات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إشعار تسليم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11) الاستلام والفحص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استلام الصنف وفحص مطابقته للمواصفات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0E2A38"/>
                          </a:solidFill>
                          <a:latin typeface="Arial"/>
                        </a:rPr>
                        <a:t>المستودعات / الطالبة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محضر استلام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12) المطابقة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مطابقة الطلب وأمر الشراء والفاتورة والاستلام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0E2A38"/>
                          </a:solidFill>
                          <a:latin typeface="Arial"/>
                        </a:rPr>
                        <a:t>المشتريات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حزمة المطابقة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13) الصرف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تحويل المستحق للمورد ضمن المدة المعتمدة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0E2A38"/>
                          </a:solidFill>
                          <a:latin typeface="Arial"/>
                        </a:rPr>
                        <a:t>المالية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سند صرف</a:t>
                      </a:r>
                    </a:p>
                  </a:txBody>
                  <a:tcPr anchor="ctr" marL="76200" marR="76200" marT="38100" marB="38100">
                    <a:solidFill>
                      <a:srgbClr val="EFEAD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0E2A38"/>
                          </a:solidFill>
                          <a:latin typeface="Arial"/>
                        </a:rPr>
                        <a:t>14) الإغلاق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00" b="0">
                          <a:solidFill>
                            <a:srgbClr val="3A4650"/>
                          </a:solidFill>
                          <a:latin typeface="Arial"/>
                        </a:rPr>
                        <a:t>إقفال المعاملة وحفظ الملف كاملاً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0E2A38"/>
                          </a:solidFill>
                          <a:latin typeface="Arial"/>
                        </a:rPr>
                        <a:t>المشتريات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0">
                          <a:solidFill>
                            <a:srgbClr val="2E6B3E"/>
                          </a:solidFill>
                          <a:latin typeface="Arial"/>
                        </a:rPr>
                        <a:t>ملف المعاملة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Arial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91295" y="182880"/>
            <a:ext cx="2971800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إدارة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6304"/>
            <a:ext cx="8595360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مصفوفة الصلاحيات والاعتماد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76656"/>
            <a:ext cx="85953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مستويات الاعتماد حسب القيمة — والعروض الثلاثة قاعدة ثابتة</a:t>
            </a:r>
          </a:p>
        </p:txBody>
      </p:sp>
      <p:sp>
        <p:nvSpPr>
          <p:cNvPr id="8" name="Rectangle 7"/>
          <p:cNvSpPr/>
          <p:nvPr/>
        </p:nvSpPr>
        <p:spPr>
          <a:xfrm>
            <a:off x="9588764" y="1371600"/>
            <a:ext cx="2182307" cy="530352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88764" y="1371600"/>
            <a:ext cx="2182307" cy="53035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المستوى الأول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88764" y="1956816"/>
            <a:ext cx="2182307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6196" y="2048256"/>
            <a:ext cx="2127443" cy="2148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700"/>
              </a:spcAft>
            </a:pPr>
            <a:r>
              <a:rPr sz="1450" b="1">
                <a:solidFill>
                  <a:srgbClr val="0E2A38"/>
                </a:solidFill>
                <a:latin typeface="Arial"/>
              </a:rPr>
              <a:t>حتى 25,000 ريال</a:t>
            </a:r>
          </a:p>
          <a:p>
            <a:pPr rtl="1" algn="ctr">
              <a:spcAft>
                <a:spcPts val="100"/>
              </a:spcAft>
            </a:pPr>
            <a:r>
              <a:rPr sz="1100" b="1">
                <a:solidFill>
                  <a:srgbClr val="C9A24B"/>
                </a:solidFill>
                <a:latin typeface="Arial"/>
              </a:rPr>
              <a:t>المعتمِد</a:t>
            </a:r>
          </a:p>
          <a:p>
            <a:pPr rtl="1" algn="ctr">
              <a:spcAft>
                <a:spcPts val="700"/>
              </a:spcAft>
            </a:pPr>
            <a:r>
              <a:rPr sz="1250" b="0">
                <a:solidFill>
                  <a:srgbClr val="3A4650"/>
                </a:solidFill>
                <a:latin typeface="Arial"/>
              </a:rPr>
              <a:t>مدير المشتريات</a:t>
            </a:r>
          </a:p>
          <a:p>
            <a:pPr rtl="1" algn="ctr">
              <a:spcAft>
                <a:spcPts val="100"/>
              </a:spcAft>
            </a:pPr>
            <a:r>
              <a:rPr sz="1100" b="1">
                <a:solidFill>
                  <a:srgbClr val="C9A24B"/>
                </a:solidFill>
                <a:latin typeface="Arial"/>
              </a:rPr>
              <a:t>العروض</a:t>
            </a:r>
          </a:p>
          <a:p>
            <a:pPr rtl="1" algn="ctr">
              <a:spcAft>
                <a:spcPts val="600"/>
              </a:spcAft>
            </a:pPr>
            <a:r>
              <a:rPr sz="1250" b="0">
                <a:solidFill>
                  <a:srgbClr val="3A4650"/>
                </a:solidFill>
                <a:latin typeface="Arial"/>
              </a:rPr>
              <a:t>ثلاثة عروض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96729" y="1371600"/>
            <a:ext cx="2182307" cy="530352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96729" y="1371600"/>
            <a:ext cx="2182307" cy="53035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المستوى الثاني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96729" y="1956816"/>
            <a:ext cx="2182307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24161" y="2048256"/>
            <a:ext cx="2127443" cy="2148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700"/>
              </a:spcAft>
            </a:pPr>
            <a:r>
              <a:rPr sz="1450" b="1">
                <a:solidFill>
                  <a:srgbClr val="0E2A38"/>
                </a:solidFill>
                <a:latin typeface="Arial"/>
              </a:rPr>
              <a:t>حتى 100,000 ريال</a:t>
            </a:r>
          </a:p>
          <a:p>
            <a:pPr rtl="1" algn="ctr">
              <a:spcAft>
                <a:spcPts val="100"/>
              </a:spcAft>
            </a:pPr>
            <a:r>
              <a:rPr sz="1100" b="1">
                <a:solidFill>
                  <a:srgbClr val="C9A24B"/>
                </a:solidFill>
                <a:latin typeface="Arial"/>
              </a:rPr>
              <a:t>المعتمِد</a:t>
            </a:r>
          </a:p>
          <a:p>
            <a:pPr rtl="1" algn="ctr">
              <a:spcAft>
                <a:spcPts val="700"/>
              </a:spcAft>
            </a:pPr>
            <a:r>
              <a:rPr sz="1250" b="0">
                <a:solidFill>
                  <a:srgbClr val="3A4650"/>
                </a:solidFill>
                <a:latin typeface="Arial"/>
              </a:rPr>
              <a:t>المشتريات والمالية</a:t>
            </a:r>
          </a:p>
          <a:p>
            <a:pPr rtl="1" algn="ctr">
              <a:spcAft>
                <a:spcPts val="100"/>
              </a:spcAft>
            </a:pPr>
            <a:r>
              <a:rPr sz="1100" b="1">
                <a:solidFill>
                  <a:srgbClr val="C9A24B"/>
                </a:solidFill>
                <a:latin typeface="Arial"/>
              </a:rPr>
              <a:t>العروض</a:t>
            </a:r>
          </a:p>
          <a:p>
            <a:pPr rtl="1" algn="ctr">
              <a:spcAft>
                <a:spcPts val="600"/>
              </a:spcAft>
            </a:pPr>
            <a:r>
              <a:rPr sz="1250" b="0">
                <a:solidFill>
                  <a:srgbClr val="3A4650"/>
                </a:solidFill>
                <a:latin typeface="Arial"/>
              </a:rPr>
              <a:t>ثلاثة عروض ومقارنة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04694" y="1371600"/>
            <a:ext cx="2182307" cy="530352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4694" y="1371600"/>
            <a:ext cx="2182307" cy="53035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المستوى الثالث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4694" y="1956816"/>
            <a:ext cx="2182307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2126" y="2048256"/>
            <a:ext cx="2127443" cy="2148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700"/>
              </a:spcAft>
            </a:pPr>
            <a:r>
              <a:rPr sz="1450" b="1">
                <a:solidFill>
                  <a:srgbClr val="0E2A38"/>
                </a:solidFill>
                <a:latin typeface="Arial"/>
              </a:rPr>
              <a:t>حتى 500,000 ريال</a:t>
            </a:r>
          </a:p>
          <a:p>
            <a:pPr rtl="1" algn="ctr">
              <a:spcAft>
                <a:spcPts val="100"/>
              </a:spcAft>
            </a:pPr>
            <a:r>
              <a:rPr sz="1100" b="1">
                <a:solidFill>
                  <a:srgbClr val="C9A24B"/>
                </a:solidFill>
                <a:latin typeface="Arial"/>
              </a:rPr>
              <a:t>المعتمِد</a:t>
            </a:r>
          </a:p>
          <a:p>
            <a:pPr rtl="1" algn="ctr">
              <a:spcAft>
                <a:spcPts val="700"/>
              </a:spcAft>
            </a:pPr>
            <a:r>
              <a:rPr sz="1250" b="0">
                <a:solidFill>
                  <a:srgbClr val="3A4650"/>
                </a:solidFill>
                <a:latin typeface="Arial"/>
              </a:rPr>
              <a:t>المدير العام</a:t>
            </a:r>
          </a:p>
          <a:p>
            <a:pPr rtl="1" algn="ctr">
              <a:spcAft>
                <a:spcPts val="100"/>
              </a:spcAft>
            </a:pPr>
            <a:r>
              <a:rPr sz="1100" b="1">
                <a:solidFill>
                  <a:srgbClr val="C9A24B"/>
                </a:solidFill>
                <a:latin typeface="Arial"/>
              </a:rPr>
              <a:t>العروض</a:t>
            </a:r>
          </a:p>
          <a:p>
            <a:pPr rtl="1" algn="ctr">
              <a:spcAft>
                <a:spcPts val="600"/>
              </a:spcAft>
            </a:pPr>
            <a:r>
              <a:rPr sz="1250" b="0">
                <a:solidFill>
                  <a:srgbClr val="3A4650"/>
                </a:solidFill>
                <a:latin typeface="Arial"/>
              </a:rPr>
              <a:t>ثلاثة عروض وتفاوض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12659" y="1371600"/>
            <a:ext cx="2182307" cy="53035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12659" y="1371600"/>
            <a:ext cx="2182307" cy="53035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المستوى الرابع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2659" y="1956816"/>
            <a:ext cx="2182307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0091" y="2048256"/>
            <a:ext cx="2127443" cy="2148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700"/>
              </a:spcAft>
            </a:pPr>
            <a:r>
              <a:rPr sz="1450" b="1">
                <a:solidFill>
                  <a:srgbClr val="0E2A38"/>
                </a:solidFill>
                <a:latin typeface="Arial"/>
              </a:rPr>
              <a:t>أكثر من 500,000</a:t>
            </a:r>
          </a:p>
          <a:p>
            <a:pPr rtl="1" algn="ctr">
              <a:spcAft>
                <a:spcPts val="100"/>
              </a:spcAft>
            </a:pPr>
            <a:r>
              <a:rPr sz="1100" b="1">
                <a:solidFill>
                  <a:srgbClr val="C9A24B"/>
                </a:solidFill>
                <a:latin typeface="Arial"/>
              </a:rPr>
              <a:t>المعتمِد</a:t>
            </a:r>
          </a:p>
          <a:p>
            <a:pPr rtl="1" algn="ctr">
              <a:spcAft>
                <a:spcPts val="700"/>
              </a:spcAft>
            </a:pPr>
            <a:r>
              <a:rPr sz="1250" b="0">
                <a:solidFill>
                  <a:srgbClr val="3A4650"/>
                </a:solidFill>
                <a:latin typeface="Arial"/>
              </a:rPr>
              <a:t>المدير العام ولجنة</a:t>
            </a:r>
          </a:p>
          <a:p>
            <a:pPr rtl="1" algn="ctr">
              <a:spcAft>
                <a:spcPts val="100"/>
              </a:spcAft>
            </a:pPr>
            <a:r>
              <a:rPr sz="1100" b="1">
                <a:solidFill>
                  <a:srgbClr val="C9A24B"/>
                </a:solidFill>
                <a:latin typeface="Arial"/>
              </a:rPr>
              <a:t>العروض</a:t>
            </a:r>
          </a:p>
          <a:p>
            <a:pPr rtl="1" algn="ctr">
              <a:spcAft>
                <a:spcPts val="600"/>
              </a:spcAft>
            </a:pPr>
            <a:r>
              <a:rPr sz="1250" b="0">
                <a:solidFill>
                  <a:srgbClr val="3A4650"/>
                </a:solidFill>
                <a:latin typeface="Arial"/>
              </a:rPr>
              <a:t>لجنة وثلاثة عروض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0624" y="1371600"/>
            <a:ext cx="2182307" cy="530352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624" y="1371600"/>
            <a:ext cx="2182307" cy="53035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مسار الطوارئ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4" y="1956816"/>
            <a:ext cx="2182307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6" y="2048256"/>
            <a:ext cx="2127443" cy="2148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700"/>
              </a:spcAft>
            </a:pPr>
            <a:r>
              <a:rPr sz="1450" b="1">
                <a:solidFill>
                  <a:srgbClr val="0E2A38"/>
                </a:solidFill>
                <a:latin typeface="Arial"/>
              </a:rPr>
              <a:t>حالات حرجة فعلاً</a:t>
            </a:r>
          </a:p>
          <a:p>
            <a:pPr rtl="1" algn="ctr">
              <a:spcAft>
                <a:spcPts val="100"/>
              </a:spcAft>
            </a:pPr>
            <a:r>
              <a:rPr sz="1100" b="1">
                <a:solidFill>
                  <a:srgbClr val="C9A24B"/>
                </a:solidFill>
                <a:latin typeface="Arial"/>
              </a:rPr>
              <a:t>المعتمِد</a:t>
            </a:r>
          </a:p>
          <a:p>
            <a:pPr rtl="1" algn="ctr">
              <a:spcAft>
                <a:spcPts val="700"/>
              </a:spcAft>
            </a:pPr>
            <a:r>
              <a:rPr sz="1250" b="0">
                <a:solidFill>
                  <a:srgbClr val="3A4650"/>
                </a:solidFill>
                <a:latin typeface="Arial"/>
              </a:rPr>
              <a:t>موافقة مسبقة موثّقة</a:t>
            </a:r>
          </a:p>
          <a:p>
            <a:pPr rtl="1" algn="ctr">
              <a:spcAft>
                <a:spcPts val="100"/>
              </a:spcAft>
            </a:pPr>
            <a:r>
              <a:rPr sz="1100" b="1">
                <a:solidFill>
                  <a:srgbClr val="C9A24B"/>
                </a:solidFill>
                <a:latin typeface="Arial"/>
              </a:rPr>
              <a:t>العروض</a:t>
            </a:r>
          </a:p>
          <a:p>
            <a:pPr rtl="1" algn="ctr">
              <a:spcAft>
                <a:spcPts val="600"/>
              </a:spcAft>
            </a:pPr>
            <a:r>
              <a:rPr sz="1250" b="0">
                <a:solidFill>
                  <a:srgbClr val="3A4650"/>
                </a:solidFill>
                <a:latin typeface="Arial"/>
              </a:rPr>
              <a:t>حسب المتاح وتسوية لاحقة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389120"/>
            <a:ext cx="11460175" cy="868680"/>
          </a:xfrm>
          <a:prstGeom prst="rect">
            <a:avLst/>
          </a:prstGeom>
          <a:solidFill>
            <a:srgbClr val="F0E7D2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62272"/>
            <a:ext cx="11094415" cy="7315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300" b="1">
                <a:solidFill>
                  <a:srgbClr val="9E2B25"/>
                </a:solidFill>
                <a:latin typeface="Arial"/>
              </a:rPr>
              <a:t>الاستثناءات من قاعدة العروض الثلاثة (موثّقة وباعتماد مدير المشتريات):</a:t>
            </a:r>
          </a:p>
          <a:p>
            <a:pPr rtl="1" algn="r">
              <a:spcAft>
                <a:spcPts val="600"/>
              </a:spcAft>
            </a:pPr>
            <a:r>
              <a:rPr sz="1250" b="0">
                <a:solidFill>
                  <a:srgbClr val="3A4650"/>
                </a:solidFill>
                <a:latin typeface="Arial"/>
              </a:rPr>
              <a:t>المشتريات النثرية تحت الحد الأدنى — أصناف البنية التحتية المتكررة ضمن سقف — الأصناف المتعاقد عليها بعقود إطارية (سبق ترسيتها بثلاثة عروض) — الطوارئ المعتمدة مسبقاً.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925312"/>
            <a:ext cx="11643055" cy="713232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841175" y="5925312"/>
            <a:ext cx="76200" cy="71323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5971032"/>
            <a:ext cx="11277295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Arial"/>
              </a:rPr>
              <a:t>القرار / السياسة المطلوبة</a:t>
            </a:r>
          </a:p>
          <a:p>
            <a:pPr rtl="1" algn="r"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اعتماد مستويات الصلاحية بقيمها، مع إبقاء العروض الثلاثة قاعدةً، وحصر الاستثناءات في الحالات الموثّقة.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Arial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91295" y="182880"/>
            <a:ext cx="2971800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إدارة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6304"/>
            <a:ext cx="8595360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نموذج الحوكمة المقترح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76656"/>
            <a:ext cx="85953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المشتريات قناة واحدة محكومة بأربع ركائز</a:t>
            </a:r>
          </a:p>
        </p:txBody>
      </p:sp>
      <p:sp>
        <p:nvSpPr>
          <p:cNvPr id="8" name="Rectangle 7"/>
          <p:cNvSpPr/>
          <p:nvPr/>
        </p:nvSpPr>
        <p:spPr>
          <a:xfrm>
            <a:off x="4267047" y="1325880"/>
            <a:ext cx="3657600" cy="64008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1325880"/>
            <a:ext cx="3657600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الإدارة العليا / المدير العام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1527" y="1993392"/>
            <a:ext cx="54864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47C"/>
                </a:solidFill>
                <a:latin typeface="Arial"/>
              </a:rPr>
              <a:t>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01287" y="2377440"/>
            <a:ext cx="4389120" cy="7772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01287" y="2377440"/>
            <a:ext cx="4389120" cy="7772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Arial"/>
              </a:rPr>
              <a:t>إدارة المشتريات — القناة الموحّدة الإلزامية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74175" y="3611880"/>
            <a:ext cx="2651760" cy="731520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74175" y="3611880"/>
            <a:ext cx="2651760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الإدارات الطالبة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8036" y="3611880"/>
            <a:ext cx="2651760" cy="731520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8036" y="3611880"/>
            <a:ext cx="2651760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الإدارة المالية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01898" y="3611880"/>
            <a:ext cx="2651760" cy="731520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01898" y="3611880"/>
            <a:ext cx="2651760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المستودعات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611880"/>
            <a:ext cx="2651760" cy="731520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611880"/>
            <a:ext cx="2651760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الموردون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526280"/>
            <a:ext cx="11460175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الركائز الحاكمة الأربع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331" y="4892040"/>
            <a:ext cx="2727883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331" y="4892040"/>
            <a:ext cx="2727883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250" b="1">
                <a:solidFill>
                  <a:srgbClr val="0E2A38"/>
                </a:solidFill>
                <a:latin typeface="Arial"/>
              </a:rPr>
              <a:t>دورة مستندية موثّقة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4892040"/>
            <a:ext cx="2727883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3007" y="4892040"/>
            <a:ext cx="2727883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250" b="1">
                <a:solidFill>
                  <a:srgbClr val="0E2A38"/>
                </a:solidFill>
                <a:latin typeface="Arial"/>
              </a:rPr>
              <a:t>مصفوفة صلاحيات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13683" y="4892040"/>
            <a:ext cx="2727883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13683" y="4892040"/>
            <a:ext cx="2727883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250" b="1">
                <a:solidFill>
                  <a:srgbClr val="0E2A38"/>
                </a:solidFill>
                <a:latin typeface="Arial"/>
              </a:rPr>
              <a:t>قائمة موردين معتمدة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4892040"/>
            <a:ext cx="2727883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2727883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250" b="1">
                <a:solidFill>
                  <a:srgbClr val="0E2A38"/>
                </a:solidFill>
                <a:latin typeface="Arial"/>
              </a:rPr>
              <a:t>سجل أسعار المناقصات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925312"/>
            <a:ext cx="11643055" cy="713232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841175" y="5925312"/>
            <a:ext cx="76200" cy="71323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5971032"/>
            <a:ext cx="11277295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Arial"/>
              </a:rPr>
              <a:t>القرار / السياسة المطلوبة</a:t>
            </a:r>
          </a:p>
          <a:p>
            <a:pPr rtl="1" algn="r"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اعتماد المشتريات قناةً موحّدة لكل القطاعات، محكومةً بالركائز الأربع.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Arial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91295" y="182880"/>
            <a:ext cx="2971800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إدارة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6304"/>
            <a:ext cx="8595360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خارطة طريق التنفيذ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76656"/>
            <a:ext cx="85953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مراحل زمنية واضحة وقابلة للقياس</a:t>
            </a:r>
          </a:p>
        </p:txBody>
      </p:sp>
      <p:sp>
        <p:nvSpPr>
          <p:cNvPr id="8" name="Rectangle 7"/>
          <p:cNvSpPr/>
          <p:nvPr/>
        </p:nvSpPr>
        <p:spPr>
          <a:xfrm>
            <a:off x="8112556" y="1371600"/>
            <a:ext cx="3667658" cy="86868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2556" y="1426464"/>
            <a:ext cx="3667658" cy="7772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أول 30 يوماً</a:t>
            </a:r>
          </a:p>
          <a:p>
            <a:pPr rtl="1" algn="ctr">
              <a:spcAft>
                <a:spcPts val="600"/>
              </a:spcAft>
            </a:pPr>
            <a:r>
              <a:rPr sz="1300" b="0">
                <a:solidFill>
                  <a:srgbClr val="F6F3ED"/>
                </a:solidFill>
                <a:latin typeface="Arial"/>
              </a:rPr>
              <a:t>تثبيت الحوكمة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2556" y="2286000"/>
            <a:ext cx="3667658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2284" y="2423160"/>
            <a:ext cx="343905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3A4650"/>
                </a:solidFill>
                <a:latin typeface="Arial"/>
              </a:rPr>
              <a:t>•  النموذج الموحّد للطلبات</a:t>
            </a:r>
          </a:p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3A4650"/>
                </a:solidFill>
                <a:latin typeface="Arial"/>
              </a:rPr>
              <a:t>•  مصفوفة الصلاحيات بقيمها</a:t>
            </a:r>
          </a:p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3A4650"/>
                </a:solidFill>
                <a:latin typeface="Arial"/>
              </a:rPr>
              <a:t>•  حصر الشراء عبر المشتريات</a:t>
            </a:r>
          </a:p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3A4650"/>
                </a:solidFill>
                <a:latin typeface="Arial"/>
              </a:rPr>
              <a:t>•  التزام المالية الزمني</a:t>
            </a:r>
          </a:p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3A4650"/>
                </a:solidFill>
                <a:latin typeface="Arial"/>
              </a:rPr>
              <a:t>•  إيقاف ازدواجية التوريد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7738" y="1371600"/>
            <a:ext cx="3667658" cy="86868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7738" y="1426464"/>
            <a:ext cx="3667658" cy="7772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حتى 90 يوماً</a:t>
            </a:r>
          </a:p>
          <a:p>
            <a:pPr rtl="1" algn="ctr">
              <a:spcAft>
                <a:spcPts val="600"/>
              </a:spcAft>
            </a:pPr>
            <a:r>
              <a:rPr sz="1300" b="0">
                <a:solidFill>
                  <a:srgbClr val="F6F3ED"/>
                </a:solidFill>
                <a:latin typeface="Arial"/>
              </a:rPr>
              <a:t>البناء المؤسسي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07738" y="2286000"/>
            <a:ext cx="3667658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7466" y="2423160"/>
            <a:ext cx="343905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3A4650"/>
                </a:solidFill>
                <a:latin typeface="Arial"/>
              </a:rPr>
              <a:t>•  سجل أسعار المناقصات</a:t>
            </a:r>
          </a:p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3A4650"/>
                </a:solidFill>
                <a:latin typeface="Arial"/>
              </a:rPr>
              <a:t>•  العقود الإطارية للمتكرر</a:t>
            </a:r>
          </a:p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3A4650"/>
                </a:solidFill>
                <a:latin typeface="Arial"/>
              </a:rPr>
              <a:t>•  عهدة وسائق للمشتريات</a:t>
            </a:r>
          </a:p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3A4650"/>
                </a:solidFill>
                <a:latin typeface="Arial"/>
              </a:rPr>
              <a:t>•  معالجة قصر الياسمين والبنية التحتية</a:t>
            </a:r>
          </a:p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3A4650"/>
                </a:solidFill>
                <a:latin typeface="Arial"/>
              </a:rPr>
              <a:t>•  تعيين منسّق الصيانة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371600"/>
            <a:ext cx="3667658" cy="86868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1426464"/>
            <a:ext cx="3667658" cy="7772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المدى البعيد</a:t>
            </a:r>
          </a:p>
          <a:p>
            <a:pPr rtl="1" algn="ctr">
              <a:spcAft>
                <a:spcPts val="600"/>
              </a:spcAft>
            </a:pPr>
            <a:r>
              <a:rPr sz="1300" b="0">
                <a:solidFill>
                  <a:srgbClr val="F6F3ED"/>
                </a:solidFill>
                <a:latin typeface="Arial"/>
              </a:rPr>
              <a:t>الاستدامة والتميّز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286000"/>
            <a:ext cx="3667658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2423160"/>
            <a:ext cx="343905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3A4650"/>
                </a:solidFill>
                <a:latin typeface="Arial"/>
              </a:rPr>
              <a:t>•  نظام مشتريات موحّد</a:t>
            </a:r>
          </a:p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3A4650"/>
                </a:solidFill>
                <a:latin typeface="Arial"/>
              </a:rPr>
              <a:t>•  لوحات متابعة الأداء</a:t>
            </a:r>
          </a:p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3A4650"/>
                </a:solidFill>
                <a:latin typeface="Arial"/>
              </a:rPr>
              <a:t>•  تقييم دوري للموردين</a:t>
            </a:r>
          </a:p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3A4650"/>
                </a:solidFill>
                <a:latin typeface="Arial"/>
              </a:rPr>
              <a:t>•  تطوير استراتيجية التوريد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5925312"/>
            <a:ext cx="11643055" cy="713232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841175" y="5925312"/>
            <a:ext cx="76200" cy="71323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971032"/>
            <a:ext cx="11277295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Arial"/>
              </a:rPr>
              <a:t>القرار / السياسة المطلوبة</a:t>
            </a:r>
          </a:p>
          <a:p>
            <a:pPr rtl="1" algn="r"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المصادقة على المراحل وتكليف فريق تنفيذي بمتابعة الإنجاز ورفع تقارير دورية.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Arial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91295" y="182880"/>
            <a:ext cx="2971800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إدارة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6304"/>
            <a:ext cx="8595360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مؤشرات قياس النجاح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76656"/>
            <a:ext cx="85953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ما لا يُقاس لا يُمكن تطويره</a:t>
            </a:r>
          </a:p>
        </p:txBody>
      </p:sp>
      <p:sp>
        <p:nvSpPr>
          <p:cNvPr id="8" name="Rectangle 7"/>
          <p:cNvSpPr/>
          <p:nvPr/>
        </p:nvSpPr>
        <p:spPr>
          <a:xfrm>
            <a:off x="8143036" y="1463040"/>
            <a:ext cx="372861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43036" y="1463040"/>
            <a:ext cx="3728618" cy="4572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43036" y="1463040"/>
            <a:ext cx="3728618" cy="4572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زمن دورة الشراء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34476" y="1993392"/>
            <a:ext cx="3545738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0">
                <a:solidFill>
                  <a:srgbClr val="3A4650"/>
                </a:solidFill>
                <a:latin typeface="Arial"/>
              </a:rPr>
              <a:t>من الطلب حتى أمر الشراء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4476" y="2423160"/>
            <a:ext cx="3545738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2E6B3E"/>
                </a:solidFill>
                <a:latin typeface="Arial"/>
              </a:rPr>
              <a:t>تقليصه إلى النصف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2978" y="1463040"/>
            <a:ext cx="372861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2978" y="1463040"/>
            <a:ext cx="3728618" cy="4572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2978" y="1463040"/>
            <a:ext cx="3728618" cy="4572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التزام الطلبات بالدورة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4418" y="1993392"/>
            <a:ext cx="3545738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0">
                <a:solidFill>
                  <a:srgbClr val="3A4650"/>
                </a:solidFill>
                <a:latin typeface="Arial"/>
              </a:rPr>
              <a:t>نسبة الطلبات الرسمية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4418" y="2423160"/>
            <a:ext cx="3545738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2E6B3E"/>
                </a:solidFill>
                <a:latin typeface="Arial"/>
              </a:rPr>
              <a:t>لا تقل عن 95٪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1463040"/>
            <a:ext cx="372861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1463040"/>
            <a:ext cx="3728618" cy="4572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1463040"/>
            <a:ext cx="3728618" cy="4572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التزام الشراء بالعروض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1993392"/>
            <a:ext cx="3545738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0">
                <a:solidFill>
                  <a:srgbClr val="3A4650"/>
                </a:solidFill>
                <a:latin typeface="Arial"/>
              </a:rPr>
              <a:t>نسبة الطلبات بثلاثة عروض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2423160"/>
            <a:ext cx="3545738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2E6B3E"/>
                </a:solidFill>
                <a:latin typeface="Arial"/>
              </a:rPr>
              <a:t>لا تقل عن 95٪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43036" y="3063240"/>
            <a:ext cx="372861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43036" y="3063240"/>
            <a:ext cx="3728618" cy="4572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43036" y="3063240"/>
            <a:ext cx="3728618" cy="4572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إغلاق الطلبات في وقتها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4476" y="3593592"/>
            <a:ext cx="3545738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0">
                <a:solidFill>
                  <a:srgbClr val="3A4650"/>
                </a:solidFill>
                <a:latin typeface="Arial"/>
              </a:rPr>
              <a:t>دون معلّقات متراكمة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4476" y="4023360"/>
            <a:ext cx="3545738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2E6B3E"/>
                </a:solidFill>
                <a:latin typeface="Arial"/>
              </a:rPr>
              <a:t>لا معلّقات متأخرة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22978" y="3063240"/>
            <a:ext cx="372861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22978" y="3063240"/>
            <a:ext cx="3728618" cy="4572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22978" y="3063240"/>
            <a:ext cx="3728618" cy="4572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التزام المالية بالتحويل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4418" y="3593592"/>
            <a:ext cx="3545738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0">
                <a:solidFill>
                  <a:srgbClr val="3A4650"/>
                </a:solidFill>
                <a:latin typeface="Arial"/>
              </a:rPr>
              <a:t>ضمن المدة المعتمدة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4418" y="4023360"/>
            <a:ext cx="3545738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2E6B3E"/>
                </a:solidFill>
                <a:latin typeface="Arial"/>
              </a:rPr>
              <a:t>لا تقل عن 90٪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063240"/>
            <a:ext cx="372861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3063240"/>
            <a:ext cx="3728618" cy="4572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3063240"/>
            <a:ext cx="3728618" cy="4572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استجابة الموردين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3593592"/>
            <a:ext cx="3545738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0">
                <a:solidFill>
                  <a:srgbClr val="3A4650"/>
                </a:solidFill>
                <a:latin typeface="Arial"/>
              </a:rPr>
              <a:t>نسبة الرد على العروض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023360"/>
            <a:ext cx="3545738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2E6B3E"/>
                </a:solidFill>
                <a:latin typeface="Arial"/>
              </a:rPr>
              <a:t>اتجاه متصاعد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5925312"/>
            <a:ext cx="11643055" cy="713232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841175" y="5925312"/>
            <a:ext cx="76200" cy="71323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971032"/>
            <a:ext cx="11277295" cy="6400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Arial"/>
              </a:rPr>
              <a:t>القرار / السياسة المطلوبة</a:t>
            </a:r>
          </a:p>
          <a:p>
            <a:pPr rtl="1" algn="r"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اعتماد هذه المؤشرات ضمن تقرير أداء ربع سنوي يُرفع للإدارة العليا.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Arial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91295" y="182880"/>
            <a:ext cx="2971800" cy="7772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C9A24B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إدارة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6304"/>
            <a:ext cx="8595360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القرارات المطلوبة من الإدارة العليا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76656"/>
            <a:ext cx="85953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Arial"/>
              </a:rPr>
              <a:t>ثمانية قرارات تُنهي التكرار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0167" y="1417320"/>
            <a:ext cx="5592927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23015" y="1417320"/>
            <a:ext cx="640080" cy="74980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23015" y="1417320"/>
            <a:ext cx="640080" cy="74980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9895" y="1417320"/>
            <a:ext cx="4815687" cy="74980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0E2A38"/>
                </a:solidFill>
                <a:latin typeface="Arial"/>
              </a:rPr>
              <a:t>حصر كل شراء وتوريد لقطاعات المجموعة عبر المشتريات حصراً.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1417320"/>
            <a:ext cx="5592927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47207" y="1417320"/>
            <a:ext cx="640080" cy="74980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47207" y="1417320"/>
            <a:ext cx="640080" cy="74980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1417320"/>
            <a:ext cx="4815687" cy="74980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0E2A38"/>
                </a:solidFill>
                <a:latin typeface="Arial"/>
              </a:rPr>
              <a:t>اعتماد سياسات وإجراءات المشتريات ودورتها الداخلية الكاملة.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2331720"/>
            <a:ext cx="5592927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323015" y="2331720"/>
            <a:ext cx="640080" cy="74980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23015" y="2331720"/>
            <a:ext cx="640080" cy="74980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9895" y="2331720"/>
            <a:ext cx="4815687" cy="74980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0E2A38"/>
                </a:solidFill>
                <a:latin typeface="Arial"/>
              </a:rPr>
              <a:t>إقرار مصفوفة الصلاحيات وقاعدة العروض الثلاثة واستثناءاتها الموثّقة.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2331720"/>
            <a:ext cx="5592927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47207" y="2331720"/>
            <a:ext cx="640080" cy="74980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47207" y="2331720"/>
            <a:ext cx="640080" cy="74980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2331720"/>
            <a:ext cx="4815687" cy="74980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0E2A38"/>
                </a:solidFill>
                <a:latin typeface="Arial"/>
              </a:rPr>
              <a:t>إلزام الإدارة المالية بمدة زمنية للتحويل ومسار طوارئ.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0167" y="3246120"/>
            <a:ext cx="5592927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323015" y="3246120"/>
            <a:ext cx="640080" cy="74980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323015" y="3246120"/>
            <a:ext cx="640080" cy="74980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9895" y="3246120"/>
            <a:ext cx="4815687" cy="74980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0E2A38"/>
                </a:solidFill>
                <a:latin typeface="Arial"/>
              </a:rPr>
              <a:t>إنشاء سجل أسعار لتسعير المناقصات يُغذّى من النظام المالي.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3246120"/>
            <a:ext cx="5592927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47207" y="3246120"/>
            <a:ext cx="640080" cy="74980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47207" y="3246120"/>
            <a:ext cx="640080" cy="74980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" y="3246120"/>
            <a:ext cx="4815687" cy="74980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0E2A38"/>
                </a:solidFill>
                <a:latin typeface="Arial"/>
              </a:rPr>
              <a:t>تفويض إبرام عقود إطارية للطلبات المتكررة والبنية التحتية.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70167" y="4160520"/>
            <a:ext cx="5592927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323015" y="4160520"/>
            <a:ext cx="640080" cy="74980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23015" y="4160520"/>
            <a:ext cx="640080" cy="74980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9895" y="4160520"/>
            <a:ext cx="4815687" cy="74980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0E2A38"/>
                </a:solidFill>
                <a:latin typeface="Arial"/>
              </a:rPr>
              <a:t>نقل عهدة قصر الياسمين، وتخصيص عهدة وسائق للمشتريات.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" y="4160520"/>
            <a:ext cx="5592927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47207" y="4160520"/>
            <a:ext cx="640080" cy="74980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47207" y="4160520"/>
            <a:ext cx="640080" cy="74980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" y="4160520"/>
            <a:ext cx="4815687" cy="74980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0E2A38"/>
                </a:solidFill>
                <a:latin typeface="Arial"/>
              </a:rPr>
              <a:t>اعتماد خارطة الطريق ومؤشرات الأداء.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Arial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0604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62895" cy="1005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الحوكمة ليست قيداً على العمل، بل ضمانة استمراره وكفاءته.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880360"/>
            <a:ext cx="9997135" cy="9144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700" b="0">
                <a:solidFill>
                  <a:srgbClr val="C9A24B"/>
                </a:solidFill>
                <a:latin typeface="Arial"/>
              </a:rPr>
              <a:t>لسنا بصدد معالجة أخطاء فردية، بل تأسيس منظومة تحمي مال الشركة وتنظّم توريدها وتعيد لها ثقة موردِيها.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62895" cy="6400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0">
                <a:solidFill>
                  <a:srgbClr val="F6F3ED"/>
                </a:solidFill>
                <a:latin typeface="Arial"/>
              </a:rPr>
              <a:t>وفريق المشتريات على أتم الاستعداد للتنفيذ فور اعتماد القرارات.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6B747C"/>
                </a:solidFill>
                <a:latin typeface="Arial"/>
              </a:rPr>
              <a:t>مع وافر الاحترام والتقدير — إدارة العمليات والمشتريات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