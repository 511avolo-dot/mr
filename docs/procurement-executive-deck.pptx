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الوضع والمشاكل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أرقام النظام، ثم سبعة محاور بمعالجاتها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تأخّر 68٪ من الأوامر، وازدواج إنفاق،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الوضع الراهن بالأرقام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 واقع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أمر شراء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في السجل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405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ألف ريال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إجمالي قيمة الأوامر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طلبات 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36 من 53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تأخير 52 يوماً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291839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938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938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38 مستخدماً فعلياً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291839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23٪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لم تكتمل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ملغاة أو قيد المراجعة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لوحة حالة الأوامر والأولوية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توزيع أوامر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الحالة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1764792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34290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350008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المراجعة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368296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27018" y="2368296"/>
            <a:ext cx="648502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738" y="2368296"/>
            <a:ext cx="557062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2935224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ملغى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953512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2305" y="2953512"/>
            <a:ext cx="463215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8025" y="2953512"/>
            <a:ext cx="371775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3520440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 جزئياً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538728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0" y="3538728"/>
            <a:ext cx="45720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3538728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4105656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التوريد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123944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20" y="4123944"/>
            <a:ext cx="45720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4123944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الأولوية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1764792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متوسط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1783080"/>
            <a:ext cx="370332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350008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عالي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368296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7157" y="2368296"/>
            <a:ext cx="3104803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2877" y="2368296"/>
            <a:ext cx="3013363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2935224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عاجل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953512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09602" y="2953512"/>
            <a:ext cx="2242358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5322" y="2953512"/>
            <a:ext cx="2150918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57600"/>
            <a:ext cx="5394960" cy="1234440"/>
          </a:xfrm>
          <a:prstGeom prst="rect">
            <a:avLst/>
          </a:prstGeom>
          <a:solidFill>
            <a:srgbClr val="F7E9E7"/>
          </a:solidFill>
          <a:ln w="19050">
            <a:solidFill>
              <a:srgbClr val="9E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794760"/>
            <a:ext cx="5029200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500" b="1">
                <a:solidFill>
                  <a:srgbClr val="9E2B25"/>
                </a:solidFill>
                <a:latin typeface="Neo Sans Arabic"/>
              </a:rPr>
              <a:t>مفارقة «العاجل»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0E2A38"/>
                </a:solidFill>
                <a:latin typeface="Neo Sans Arabic"/>
              </a:rPr>
              <a:t>من 13 طلباً «عاجلاً»: تأخّر 8 وأُلغي 1 — أي أن صفة العاجل لا تضمن السرعة.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12 طلباً لم تكتمل (ملغاة/قيد المراجعة)، وثلثا الأوامر متأخرة — مؤشر على خلل في الدورة.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أين يضيع الوقت؟ تشخيص 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سبب التأخير الأبرز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من الطلبات المتأخرة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سببها التحويل المالي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من أصل 688 بسبب 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15.6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زمن التوريد الكلي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342900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أوامر الشراء حسب القطاع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679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الصيانة والتشغيل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82753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3251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الإنشاءات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5400" y="4343400"/>
            <a:ext cx="3718560" cy="310896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51120" y="4343400"/>
            <a:ext cx="36271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7823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الإدارة العامة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6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4800600"/>
            <a:ext cx="2788920" cy="310896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4800600"/>
            <a:ext cx="26974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395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النقليات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4440" y="5257800"/>
            <a:ext cx="1239520" cy="3108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0160" y="5257800"/>
            <a:ext cx="11480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نحو نصف أيام التأخير سببها التحويل المالي — ما يؤكد أولوية إلزام المالية بمدة زمنية.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3 أيام، ولوحة متابعة، وإغلاق المنتفي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سجل أسعار مرجعي للمناقصات فقط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تاريخ لأسعار المواد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تغذية السجل آلياً من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تسعير المناقصات بوقت ضيّق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الخلط بين السجل وعروض الشراء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الشراء دائماً بثلاثة عروض، والسجل للمناقصات فقط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بأسعار ثابتة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تُسعّر كل مرة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ثلاثة عروض أول مرة ثم مورد ثابت بعقد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الموردين موزّعة على الإدارات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حصرها لدى المشتريات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مديونيات لدى الموردين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كشف حساب للتسوية ضمن خطة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مشرفو الموقع خارج المظلة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تبعيتهم للمشتريات إشرافياً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على المندوب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نقلها لمسؤول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تعثّر طلبات البنية التحتية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عقد إطاري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 ودفعات أسبوعية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تغذية لسجل المناقصات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ربطه بفواتير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الاستثناءات الموثّقة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النثريات والبنية التحتية بسقف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المطابقة قبل الصرف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وفاتورة واستلام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النزاهة والتوثيق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سرية العروض وأرشفة كاملة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نشوء الاحتياج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رسمي بالمواصفات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فحص المستودع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المقارنة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الاعتماد حسب الصلاحية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الاستلام والمطابقة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4731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4731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 للمورد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95728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الإغلاق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— المرحلة والمسؤول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87287.5" y="1371600"/>
          <a:ext cx="5547206" cy="46817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1733502"/>
                <a:gridCol w="2311336"/>
                <a:gridCol w="1502368"/>
              </a:tblGrid>
              <a:tr h="585216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الاحتياج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تعبئة طلب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الطالبة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التسجيل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ترقيم ومراجعة الطلب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فحص المخزون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التأكد من عدم توفّره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المستودعات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طلب العروض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مخاطبة ثلاثة موردين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المقارنة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جدول مفاضلة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التوصية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ترشيح الأنسب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الاعتماد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الموافقة بالصلاحية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صاحب الصلاحية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71600"/>
          <a:ext cx="5547206" cy="46817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1733502"/>
                <a:gridCol w="2311336"/>
                <a:gridCol w="1502368"/>
              </a:tblGrid>
              <a:tr h="585216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أمر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أمر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9) الإشعار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إشعار المورد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10) التوريد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متابعة التسليم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11) الاستلام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المطابقة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المستودعات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12) المطابقة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13) الصرف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تحويل المستحق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14) الإغلاق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إقفال وأرشفة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البنية التحتية — المتعاقد عليه إطارياً — الطوارئ.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سجل أسعار المناقصات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الملفات العالقة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64592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64592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64592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زمن دورة الشراء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7796" y="230428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تقليصه إلى النصف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64592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64592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8218" y="164592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الالتزام بالدورة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8218" y="230428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64592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64592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164592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30428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42900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42900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7796" y="342900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7796" y="408736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إلى الصفر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42900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42900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8218" y="342900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التزام المالية بالتحويل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8218" y="408736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90٪ فأكثر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2900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42900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2900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استجابة الموردين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8736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اتجاه متصاعد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21 /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