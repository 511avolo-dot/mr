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مجموعة الذيابي للمقاولات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9144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تطوير منظومة المشتريات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362895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المشاكل ومعالجتها · المنظومة المقترحة · المطلوب من الإدارة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2895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مرفوع إلى سعادة المدير العام والإدارة العليا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F6F3ED"/>
                </a:solidFill>
                <a:latin typeface="Neo Sans Arabic"/>
              </a:rPr>
              <a:t>إعداد: إدارة العمليات والمشتريات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محتوى العرض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ثلاثة أجزاء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الوضع والمشاكل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أرقام النظام، ثم سبعة محاور بمعالجاتها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المنظومة المقترحة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السياسات · الدورة الكاملة · مصفوفة الصلاحيات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976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074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التنفيذ والقرار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خارطة الطريق · مؤشرات النجاح · القرارات المطلوبة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الملخص التنفيذي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الفكرة في أربع نقاط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7287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620195" y="1463040"/>
            <a:ext cx="114300" cy="13716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0167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9E2B25"/>
                </a:solidFill>
                <a:latin typeface="Neo Sans Arabic"/>
              </a:rPr>
              <a:t>المشكلة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لا توجد قناة موحّدة ولا دورة مُلزِمة ولا صلاحيات واضحة للمشتريات.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90107" y="1463040"/>
            <a:ext cx="114300" cy="13716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C57A0C"/>
                </a:solidFill>
                <a:latin typeface="Neo Sans Arabic"/>
              </a:rPr>
              <a:t>الأثر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تأخّر 68٪ من الأوامر، وازدواج إنفاق، وتآكل ثقة الموردين.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620195" y="3017520"/>
            <a:ext cx="114300" cy="13716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0167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الحل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قناة واحدة + دورة موثّقة + ثلاثة عروض لكل شراء + صلاحيات واضحة.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90107" y="3017520"/>
            <a:ext cx="114300" cy="13716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0E2A38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إقرار السياسات وخارطة الطريق من الإدارة العليا.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أبرز التحديات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مرتّبة حسب الأهمية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1567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ازدواجية التوريد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1567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الشراء المباشر خارج المشتريات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1567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التحويل المالي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1567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الإفراط في صفة «عاجل»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الطلبات المعلّقة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غياب الدورة والصلاحيات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تسعير المناقصات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قصر الياسمين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الوضع الراهن بالأرقام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من واقع نظام المشتريات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أمر شراء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في السجل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405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ألف ريال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إجمالي قيمة الأوامر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68٪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4203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طلبات 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36 من 53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7796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7796" y="3291839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3516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516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 التأخير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أقصى تأخير 52 يوماً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38218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8218" y="3291839"/>
            <a:ext cx="3698138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938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938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مورد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38 مستخدماً فعلياً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291839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291839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419855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23٪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4416551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لم تكتمل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ملغاة أو قيد المراجعة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لوحة حالة الأوامر والأولوية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توزيع أوامر الشراء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الحالة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12680" y="1764792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783080"/>
            <a:ext cx="3520440" cy="3840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83080"/>
            <a:ext cx="342900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350008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قيد المراجعة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2368296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227018" y="2368296"/>
            <a:ext cx="648502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72738" y="2368296"/>
            <a:ext cx="557062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2935224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ملغى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2953512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12305" y="2953512"/>
            <a:ext cx="463215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58025" y="2953512"/>
            <a:ext cx="371775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2680" y="3520440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مُسلَّم جزئياً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3538728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18320" y="3538728"/>
            <a:ext cx="457200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40" y="3538728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4105656"/>
            <a:ext cx="173736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قيد التوريد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4123944"/>
            <a:ext cx="352044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18320" y="4123944"/>
            <a:ext cx="457200" cy="38404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4123944"/>
            <a:ext cx="36576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1234440"/>
            <a:ext cx="539496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حسب الأولوية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1764792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متوسط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1783080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1783080"/>
            <a:ext cx="3794760" cy="38404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1783080"/>
            <a:ext cx="3703320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350008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عالي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2368296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7157" y="2368296"/>
            <a:ext cx="3104803" cy="3840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92877" y="2368296"/>
            <a:ext cx="3013363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2935224"/>
            <a:ext cx="1463040" cy="42062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عاجل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2953512"/>
            <a:ext cx="3794760" cy="384048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009602" y="2953512"/>
            <a:ext cx="2242358" cy="3840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5322" y="2953512"/>
            <a:ext cx="2150918" cy="3840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657600"/>
            <a:ext cx="5394960" cy="1234440"/>
          </a:xfrm>
          <a:prstGeom prst="rect">
            <a:avLst/>
          </a:prstGeom>
          <a:solidFill>
            <a:srgbClr val="F7E9E7"/>
          </a:solidFill>
          <a:ln w="19050">
            <a:solidFill>
              <a:srgbClr val="9E2B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3794760"/>
            <a:ext cx="5029200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1500" b="1">
                <a:solidFill>
                  <a:srgbClr val="9E2B25"/>
                </a:solidFill>
                <a:latin typeface="Neo Sans Arabic"/>
              </a:rPr>
              <a:t>مفارقة «العاجل»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0E2A38"/>
                </a:solidFill>
                <a:latin typeface="Neo Sans Arabic"/>
              </a:rPr>
              <a:t>من 13 طلباً «عاجلاً»: تأخّر 8 وأُلغي 1 — أي أن صفة العاجل لا تضمن السرعة.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12 طلباً لم تكتمل (ملغاة/قيد المراجعة)، وثلثا الأوامر متأخرة — مؤشر على خلل في الدورة.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أين يضيع الوقت؟ تشخيص التأخير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سبب التأخير الأبرز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3516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44٪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73516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من الطلبات المتأخرة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سببها التحويل المالي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417320"/>
            <a:ext cx="3698138" cy="889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938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9E2B25"/>
                </a:solidFill>
                <a:latin typeface="Neo Sans Arabic"/>
              </a:rPr>
              <a:t>336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938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تأخير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من أصل 688 بسبب 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417320"/>
            <a:ext cx="3698138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17320"/>
            <a:ext cx="3698138" cy="889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45336"/>
            <a:ext cx="3606698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57A0C"/>
                </a:solidFill>
                <a:latin typeface="Neo Sans Arabic"/>
              </a:rPr>
              <a:t>15.6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587752"/>
            <a:ext cx="3606698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يوم متوسط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زمن التوريد الكلي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6655" y="3429000"/>
            <a:ext cx="576072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أوامر الشراء حسب القطاع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38679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الصيانة والتشغيل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3886200"/>
            <a:ext cx="8366760" cy="310896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886200"/>
            <a:ext cx="82753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43251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الإنشاءات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3434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105400" y="4343400"/>
            <a:ext cx="3718560" cy="310896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51120" y="4343400"/>
            <a:ext cx="362712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7823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الإدارة العامة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8006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35040" y="4800600"/>
            <a:ext cx="2788920" cy="310896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0760" y="4800600"/>
            <a:ext cx="269748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0" y="5239512"/>
            <a:ext cx="2743200" cy="347472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1">
                <a:solidFill>
                  <a:srgbClr val="0E2A38"/>
                </a:solidFill>
                <a:latin typeface="Neo Sans Arabic"/>
              </a:rPr>
              <a:t>النقليات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257800"/>
            <a:ext cx="8366760" cy="310896"/>
          </a:xfrm>
          <a:prstGeom prst="rect">
            <a:avLst/>
          </a:prstGeom>
          <a:solidFill>
            <a:srgbClr val="EC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84440" y="5257800"/>
            <a:ext cx="1239520" cy="31089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30160" y="5257800"/>
            <a:ext cx="1148080" cy="310896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نحو نصف أيام التأخير سببها التحويل المالي — ما يؤكد أولوية إلزام المالية بمدة زمنية.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أوامر الشراء (53 أمراً)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أولاً: تنظيم الطلبات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بالبريد والواتساب بصفة «عاجل» بلا نموذج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نموذج طلب رسمي موحّد موقّع، ولا يُعتدّ بغيره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الإفراط في «عاجل» وأغلبه لا يُنفّذ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«عاجل» باعتماد خطّي مبرّر وسقف شهري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معلّقة دون إجراء (خاصة لدى المالية)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بتّ محددة، وتصعيد متدرّج: مدير الإدارة ثم الإدارة العليا عند التجاوز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الدورة ومن يعتمد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دورة موثّقة ومصفوفة صلاحيات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مواصفات ناقصة وقنوات متفرّقة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إرفاق صورة/علامة تجارية، وقناة رسمية واحدة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ثانياً: ازدواجية التوريد والشراء المباشر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 تُورّد صنفاً ورّدته الصيانة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إشعار فوري بالاكتفاء، ومنع توريد موازٍ بعد أمر الشراء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مباشر خارج 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كل شراء وتوريد عبر المشتريات حصراً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من موردين بعينهم دون رجوع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إدراجهم في قائمة معتمدة تُدار مركزياً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صنف متوفّر بالمخزون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فحص المستودع إلزامي قبل الطلب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ثالثاً: تسعير المناقصات وسجل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إعادة تجميع الأسعار لكل مناقصة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سجل أسعار مرجعي للمناقصات فقط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تاريخ لأسعار المواد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تغذّيه المشتريات يدوياً حالياً، ويُؤتمَت من النظام المالي بعد تشغيل نظام 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تسعير المناقصات بوقت ضيّق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تخصيص مدة كافية متّفق عليها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الخلط بين السجل وعروض الشراء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الشراء دائماً بثلاثة عروض، والسجل للمناقصات فقط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إنجاز 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ما بنته المشتريات للوصول إليه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4899" y="1417320"/>
            <a:ext cx="2773603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24899" y="1417320"/>
            <a:ext cx="2773603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70619" y="154533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70619" y="263347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بند مسجّل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في سجل الأسعار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417320"/>
            <a:ext cx="2773603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87287" y="1417320"/>
            <a:ext cx="2773603" cy="889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154533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C9A24B"/>
                </a:solidFill>
                <a:latin typeface="Neo Sans Arabic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63347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سعر مرجعي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للرجوع إليها في المناقصات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9675" y="1417320"/>
            <a:ext cx="2773603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49675" y="1417320"/>
            <a:ext cx="2773603" cy="889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95395" y="154533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2E6B3E"/>
                </a:solidFill>
                <a:latin typeface="Neo Sans Arabic"/>
              </a:rPr>
              <a:t>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5395" y="263347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فئة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تغطّي مواد المشاريع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" y="1417320"/>
            <a:ext cx="2773603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1417320"/>
            <a:ext cx="2773603" cy="889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7784" y="1545336"/>
            <a:ext cx="2682163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0E2A38"/>
                </a:solidFill>
                <a:latin typeface="Neo Sans Arabic"/>
              </a:rPr>
              <a:t>42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" y="2633472"/>
            <a:ext cx="2682163" cy="51206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100"/>
              </a:spcAft>
            </a:pPr>
            <a:r>
              <a:rPr sz="1350" b="1">
                <a:solidFill>
                  <a:srgbClr val="0E2A38"/>
                </a:solidFill>
                <a:latin typeface="Neo Sans Arabic"/>
              </a:rPr>
              <a:t>مورد مسجّل</a:t>
            </a:r>
          </a:p>
          <a:p>
            <a:pPr rtl="1" algn="ctr">
              <a:spcAft>
                <a:spcPts val="600"/>
              </a:spcAft>
            </a:pPr>
            <a:r>
              <a:rPr sz="1100" b="0">
                <a:solidFill>
                  <a:srgbClr val="6B747C"/>
                </a:solidFill>
                <a:latin typeface="Neo Sans Arabic"/>
              </a:rPr>
              <a:t>بسجلّات وبيانات تواصل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520440"/>
            <a:ext cx="11277295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632895" y="3520440"/>
            <a:ext cx="101600" cy="13716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657600"/>
            <a:ext cx="10911535" cy="11430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500"/>
              </a:spcAft>
            </a:pPr>
            <a:r>
              <a:rPr sz="1600" b="1">
                <a:solidFill>
                  <a:srgbClr val="C9A24B"/>
                </a:solidFill>
                <a:latin typeface="Neo Sans Arabic"/>
              </a:rPr>
              <a:t>من الصفر إلى منظومة</a:t>
            </a:r>
          </a:p>
          <a:p>
            <a:pPr rtl="1" algn="r">
              <a:spcAft>
                <a:spcPts val="3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عند استلام الإدارة لم يكن هناك سجل أسعار، وكان عدد الموردين المستلَمين 4 فقط؛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واليوم أصبح لدينا 42 مورداً في 26 فئة وسجل أسعار مرجعي يُبنى ويُحدَّث باستمرار.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" y="603504"/>
            <a:ext cx="4572000" cy="36576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050" b="0">
                <a:solidFill>
                  <a:srgbClr val="F6F3ED"/>
                </a:solidFill>
                <a:latin typeface="Neo Sans Arabic"/>
              </a:rPr>
              <a:t>المصدر: نظام المشتريات — سجل الموردين وسجل الأسعار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رابعاً: الموردون والعلاقات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تآكل ثقة الموردين بطلباتنا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ضبط «العاجل» والالتزام بإغلاق الطلبات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شهرية متكررة بلا عقود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عقود إطارية سنوية مُرساة بثلاثة عروض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الطلبات المستديمة تُسعّر يدوياً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تخضع لثلاثة عروض كاملة كغيرها دون استثناء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مشاكل الصيانة والتشغيل مع الموردين غير محصورة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تسليم المشتريات بها وبالمسؤول عنها لتوحيد التعامل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موردي الصيانة والتشغيل والإدارات (نقداً/أجلاً)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حصرهم وتسجيلهم لدينا وحفظ سجلاتهم في قائمة موحّدة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خامساً: العلاقة مع الصيانة والتشغيل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إطار منظّم للعلاقة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اتفاقية تحدّد المسارات الأربعة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جهة تنسيق واحدة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منسّق من الصيانة ملمّ بالمشتريات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مشرفو الموقع خارج المظلة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تبعيتهم للمشتريات إشرافياً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آليات مختلفة لكل 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آلية موحّدة لكل نوع 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سادساً: العهد والموارد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عهدة قصر الياسمين مسجّلة على مندوب المشتريات رغم أن الشراء والصرف يتمّ عبر المشروع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نقل العهدة إلى مسؤول المشروع باعتباره المنفّذ الفعلي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بقاء العهدة على المندوب يحمّله مسؤولية مالية عن مصروفات لا يديرها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تسوية العهدة الحالية وإبراء ذمّة المندوب فوراً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عهدة نقدية للمشتريات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عهدة مستديمة بضوابط صرف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وسيلة توريد للمواقع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سائق تابع للمشتريات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سابعاً: التكامل مع الإدارة المالية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بطء التحويل للموردين وتعليق المعاملات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ملزمة (3–5 أيام)، ودفعات أسبوعية، وتصعيد للإدارة العليا عند التجاوز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تغذية آلية لسجل المناقصات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ربطه بفواتير النظام المالي بعد تشغيل نظام 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مسار طوارئ محكوم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مسار بموافقة مسبقة وسقف محدّد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سياسات المشتريات الحاكمة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7044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القناة الموحّدة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كل شراء عبر المشتريات حصراً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2706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ثلاثة عروض إلزامية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لأي شراء مهما كان حجمه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مصفوفة الصلاحيات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الاعتماد حسب القيمة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7044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الدورة المستندية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مسار موحّد من الاحتياج للإغلاق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2706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اعتماد الموردين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قائمة معتمدة وتقييم دوري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العقود الإطارية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للطلبات المتكررة والمستديمة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7316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737035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7044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سجل أسعار المناقصات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للمناقصات فقط لا للشراء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2978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2696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2706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مسار الطوارئ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بموافقة مسبقة موثّقة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88358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المشتريات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عهدة مستديمة بضوابط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7316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737035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7044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الاستثناءات الموثّقة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النثريات والطوارئ ضمن سقف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2978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62696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2706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المطابقة قبل الصرف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طلب وأمر وفاتورة واستلام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88358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النزاهة والتوثيق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سرية العروض وأرشفة كاملة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الدورة الكاملة للمشتريات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نشوء الاحتياج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6963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طلب رسمي بالمواصفات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6551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فحص المستودع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6139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طلب ثلاثة عروض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المقارنة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697480"/>
            <a:ext cx="2121408" cy="8686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الاعتماد حسب الصلاحية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6963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أمر الشراء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6551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الصرف/التحويل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6139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4731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4731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الاستلام والفحص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95728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الإغلاق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ثلاثة عروض إلزامية في كل دورة — ولا توريد خارج هذا المسار.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إجراءات الدورة — المرحلة والمسؤول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87287.5" y="1371600"/>
          <a:ext cx="5547206" cy="46817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1733502"/>
                <a:gridCol w="2311336"/>
                <a:gridCol w="1502368"/>
              </a:tblGrid>
              <a:tr h="585216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المرحلة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الإجراء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المسؤول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1) الاحتياج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تعبئة طلب الشراء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الطالبة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2) التسجيل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ترقيم ومراجعة الطلب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3) فحص المخزون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التأكد من عدم توفّره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المستودعات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4) طلب العروض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مخاطبة ثلاثة موردين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5) المقارنة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جدول مفاضلة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6) التوصية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ترشيح الأنسب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7) الاعتماد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الموافقة بالصلاحية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صاحب الصلاحية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71600"/>
          <a:ext cx="5547206" cy="4681728"/>
        </p:xfrm>
        <a:graphic>
          <a:graphicData uri="http://schemas.openxmlformats.org/drawingml/2006/table">
            <a:tbl>
              <a:tblPr firstRow="1" bandRow="1" rtl="1">
                <a:tableStyleId>{5C22544A-7EE6-4342-B048-85BDC9FD1C3A}</a:tableStyleId>
              </a:tblPr>
              <a:tblGrid>
                <a:gridCol w="1733502"/>
                <a:gridCol w="2311336"/>
                <a:gridCol w="1502368"/>
              </a:tblGrid>
              <a:tr h="585216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المرحلة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الإجراء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المسؤول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8) أمر الشراء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إصدار أمر الشراء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9) الإشعار والتعاقد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إشعار المورد بالشروط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10) الصرف/التحويل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تحويل المستحق (غالباً قبل التوريد)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11) التوريد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متابعة التسليم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12) الاستلام والفحص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فحص المطابقة للمواصفات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المستودعات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13) المطابقة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المستندات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14) الإغلاق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إقفال وأرشفة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مصفوفة الصلاحيات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الأول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29471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2623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25,000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مدير المشتريات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0439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100,000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المشتريات والمالية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الثالث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45103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8255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الرابع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أكثر من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 ولجنة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0E2A38"/>
                </a:solidFill>
                <a:latin typeface="Neo Sans Arabic"/>
              </a:rPr>
              <a:t>العروض الثلاثة قاعدة ثابتة في كل المستويات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الاستثناءات (باعتماد مدير المشتريات): النثريات — المتعاقد عليه إطارياً — الطوارئ المعتمدة مسبقاً.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خارطة الطريق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أول 30 يوماً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7316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4476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النموذج الموحّد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مصفوفة الصلاحيات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حصر الشراء بالمشتريات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التزام المالية الزمني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حتى 90 يوماً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0138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أتمتة سجل الأسعار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العقود الإطارية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عهدة وسائق للمشتريات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معالجة عهدة قصر الياسمين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المدى البعيد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نظام مشتريات 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لوحات متابعة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تقييم الموردين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استراتيجية التوريد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20 /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مؤشرات النجاح: الحالي والهدف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7796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الطلبات المتأخرة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865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68٪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7796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15٪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67137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38218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8218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8218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 زمن التوريد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15.6 يوم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8218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8 أيام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77559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150876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150876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150876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تأخيرات بسبب المالية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7709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44٪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07568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10٪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7981" y="219456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7796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7796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27796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الطلبات غير المكتملة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76865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23٪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27796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أقل من 5٪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67137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38218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38218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38218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الالتزام بالعروض الثلاثة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7287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يُبدأ القياس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38218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95٪ فأكثر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77559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3474720"/>
            <a:ext cx="36981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3474720"/>
            <a:ext cx="3698138" cy="5029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474720"/>
            <a:ext cx="3698138" cy="5029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الموردون المسجّلون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97709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الحالي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9E2B25"/>
                </a:solidFill>
                <a:latin typeface="Neo Sans Arabic"/>
              </a:rPr>
              <a:t>42 مورداً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041648"/>
            <a:ext cx="1849069" cy="10515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300"/>
              </a:spcAft>
            </a:pPr>
            <a:r>
              <a:rPr sz="1100" b="1">
                <a:solidFill>
                  <a:srgbClr val="6B747C"/>
                </a:solidFill>
                <a:latin typeface="Neo Sans Arabic"/>
              </a:rPr>
              <a:t>الهدف</a:t>
            </a:r>
          </a:p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2E6B3E"/>
                </a:solidFill>
                <a:latin typeface="Neo Sans Arabic"/>
              </a:rPr>
              <a:t>نموّ مستمر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7981" y="4160520"/>
            <a:ext cx="219456" cy="82296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C9A24B"/>
                </a:solidFill>
                <a:latin typeface="Neo Sans Arabic"/>
              </a:rPr>
              <a:t>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21 / 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القرارات المطلوبة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0167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حصر كل شراء عبر المشتريات حصراً.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السياسات والدورة الكاملة.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إقرار مصفوفة الصلاحيات والعروض الثلاثة.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إلزام المالية بمدة التحويل.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0167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7327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إنشاء سجل أسعار للمناقصات.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تفويض العقود الإطارية.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70167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07327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معالجة العهد وموارد المشتريات.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خارطة الطريق والمؤشرات.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22 / 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62895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Neo Sans Arabic"/>
              </a:rPr>
              <a:t>منظومة واضحة تحمي المال وتنظّم التوريد.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62895" cy="7315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وفريق المشتريات جاهز للتنفيذ فور الاعتماد.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F6F3ED"/>
                </a:solidFill>
                <a:latin typeface="Neo Sans Arabic"/>
              </a:rPr>
              <a:t>مع وافر الاحترام والتقدير — إدارة العمليات والمشتريات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