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8892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6868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1">
                <a:solidFill>
                  <a:srgbClr val="C9A24B"/>
                </a:solidFill>
                <a:latin typeface="Neo Sans Arabic"/>
              </a:rPr>
              <a:t>مجموعة الذيابي للمقاولات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10728655" cy="9144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تطوير منظومة المشتريات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10362895" cy="5486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المشاكل ومعالجتها · المنظومة المقترحة · المطلوب من الإدارة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97680"/>
            <a:ext cx="10362895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8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مرفوع إلى سعادة المدير العام والإدارة العليا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F6F3ED"/>
                </a:solidFill>
                <a:latin typeface="Neo Sans Arabic"/>
              </a:rPr>
              <a:t>إعداد: إدارة العمليات والمشتريات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محتوى العرض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ثلاثة أجزاء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00055" y="15544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642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المشاكل ومعالجتها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سبعة محاور: كل مشكلة ومعالجتها المقترحة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260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00055" y="29260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0358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المنظومة المقترحة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السياسات · الدورة الكاملة · مصفوفة الصلاحيات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4297680"/>
            <a:ext cx="11094415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500055" y="4297680"/>
            <a:ext cx="1143000" cy="10972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4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9539935" cy="91440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400"/>
              </a:spcAft>
            </a:pPr>
            <a:r>
              <a:rPr sz="2400" b="1">
                <a:solidFill>
                  <a:srgbClr val="0E2A38"/>
                </a:solidFill>
                <a:latin typeface="Neo Sans Arabic"/>
              </a:rPr>
              <a:t>التنفيذ والقرار</a:t>
            </a:r>
          </a:p>
          <a:p>
            <a:pPr rtl="1" algn="r">
              <a:spcAft>
                <a:spcPts val="600"/>
              </a:spcAft>
            </a:pPr>
            <a:r>
              <a:rPr sz="1500" b="0">
                <a:solidFill>
                  <a:srgbClr val="33404A"/>
                </a:solidFill>
                <a:latin typeface="Neo Sans Arabic"/>
              </a:rPr>
              <a:t>خارطة الطريق · مؤشرات النجاح · القرارات المطلوبة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الملخص التنفيذي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الفكرة في أربع نقاط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90107" y="1463040"/>
            <a:ext cx="114300" cy="1371600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9E2B25"/>
                </a:solidFill>
                <a:latin typeface="Neo Sans Arabic"/>
              </a:rPr>
              <a:t>المشكلة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لا توجد قناة موحّدة ولا دورة مُلزِمة ولا صلاحيات واضحة للمشتريات.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7287" y="146304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620195" y="1463040"/>
            <a:ext cx="114300" cy="137160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0167" y="162763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C57A0C"/>
                </a:solidFill>
                <a:latin typeface="Neo Sans Arabic"/>
              </a:rPr>
              <a:t>الأثر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ازدواج إنفاق، وتأخّر توريد، وتآكل ثقة الموردين.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890107" y="3017520"/>
            <a:ext cx="114300" cy="137160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الحل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قناة واحدة + دورة موثّقة + ثلاثة عروض لكل شراء + صلاحيات واضحة.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87287" y="3017520"/>
            <a:ext cx="5547207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620195" y="3017520"/>
            <a:ext cx="114300" cy="13716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0167" y="3182112"/>
            <a:ext cx="5090007" cy="10972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1">
                <a:solidFill>
                  <a:srgbClr val="0E2A38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إقرار السياسات وخارطة الطريق من الإدارة العليا.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أبرز التحديات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مرتّبة حسب الأهمية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141567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682935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ازدواجية التوريد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41567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82935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78727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الشراء المباشر خارج المشتريات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1567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82935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حرج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727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التحويل المالي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1567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82935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78727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الإفراط في صفة «عاجل»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155448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98567" y="155448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155448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256032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98567" y="256032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مرتفع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256032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غياب الدورة والصلاحيات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6616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98567" y="356616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56616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بطء تسعير المناقصات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4572000"/>
            <a:ext cx="5592927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98567" y="4572000"/>
            <a:ext cx="1051560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متوسط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4572000"/>
            <a:ext cx="4358487" cy="84124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قصر الياسمين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أولاً: تنظيم الطلبات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بالبريد والواتساب بصفة «عاجل» بلا نموذج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نموذج طلب رسمي موحّد موقّع، ولا يُعتدّ بغيره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الإفراط في «عاجل» وأغلبه لا يُنفّذ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«عاجل» باعتماد خطّي مبرّر وسقف شهري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معلّقة دون إجراء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بتّ 3 أيام، ولوحة متابعة، وإغلاق المنتفي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غموض الدورة ومن يعتمد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دورة موثّقة ومصفوفة صلاحيات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مواصفات ناقصة وقنوات متفرّقة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إرفاق صورة/علامة تجارية، وقناة رسمية واحدة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ثانياً: ازدواجية التوريد والشراء المباشر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 تُورّد صنفاً ورّدته الصيانة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إشعار فوري بالاكتفاء، ومنع توريد موازٍ بعد أمر الشراء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مباشر خارج 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كل شراء وتوريد عبر المشتريات حصراً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من موردين بعينهم دون رجوع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إدراجهم في قائمة معتمدة تُدار مركزياً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شراء صنف متوفّر بالمخزون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فحص المستودع إلزامي قبل الطلب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ثالثاً: تسعير المناقصات وسجل الأسعار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إعادة تجميع الأسعار لكل مناقصة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سجل أسعار مرجعي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تاريخ لأسعار المواد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تغذية السجل آلياً من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تسعير المناقصات بوقت ضيّق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تخصيص مدة كافية متّفق عليها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الخلط بين السجل وعروض الشراء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الشراء دائماً بثلاثة عروض، والسجل للمناقصات فقط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رابعاً: الموردون والعلاقات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4279392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تآكل ثقة الموردين بطلباتنا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ضبط «العاجل» والالتزام بإغلاق الطلبات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طلبات شهرية متكررة بلا عقود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عقود إطارية سنوية بأسعار ثابتة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الطلبات المستديمة تُسعّر كل مرة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ثلاثة عروض أول مرة ثم مورد ثابت بعقد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مشاكل الموردين موزّعة على الإدارات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حصرها لدى المشتريات لتوحيد التعامل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مديونيات لدى الموردين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كشف حساب للتسوية ضمن خطة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خامساً: العلاقة مع الصيانة والتشغيل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إطار منظّم للعلاقة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اتفاقية تحدّد المسارات الأربعة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جهة تنسيق واحدة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منسّق من الصيانة ملمّ بالمشتريات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مشرفو الموقع خارج المظلة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تبعيتهم للمشتريات إشرافياً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آليات مختلفة لكل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آلية موحّدة لكل نوع طلب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سادساً: العهد والموارد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3566160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عهدة قصر الياسمين على المندوب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نقلها لمسؤول المشروع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تعثّر طلبات البنية التحتية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عقد إطاري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عهدة نقدية للمشتريات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عهدة مستديمة بضوابط صرف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وسيلة توريد للمواقع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سائق تابع للمشتريات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سابعاً: التكامل مع الإدارة المالية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الأول · المشاكل ومعالجتها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371600"/>
          <a:ext cx="11277294" cy="28529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5638647"/>
                <a:gridCol w="5638647"/>
              </a:tblGrid>
              <a:tr h="713232"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الوضع الحالي</a:t>
                      </a:r>
                    </a:p>
                  </a:txBody>
                  <a:tcPr anchor="ctr" marL="76200" marR="76200" marT="38100" marB="381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400" b="1">
                          <a:solidFill>
                            <a:srgbClr val="FFFFFF"/>
                          </a:solidFill>
                          <a:latin typeface="Neo Sans Arabic"/>
                        </a:rPr>
                        <a:t>المعالجة المقترحة</a:t>
                      </a:r>
                    </a:p>
                  </a:txBody>
                  <a:tcPr anchor="ctr" marL="76200" marR="76200" marT="38100" marB="38100">
                    <a:solidFill>
                      <a:srgbClr val="2E6B3E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بطء التحويل للموردين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مدة ملزمة (3–5 أيام) ودفعات أسبوعية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تغذية لسجل المناقصات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ربطه بفواتير النظام المالي</a:t>
                      </a:r>
                    </a:p>
                  </a:txBody>
                  <a:tcPr anchor="ctr" marL="101600" marR="101600" marT="50800" marB="50800">
                    <a:solidFill>
                      <a:srgbClr val="F1ECE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rtl="1" algn="r"/>
                      <a:r>
                        <a:rPr sz="1500" b="1">
                          <a:solidFill>
                            <a:srgbClr val="0E2A38"/>
                          </a:solidFill>
                          <a:latin typeface="Neo Sans Arabic"/>
                        </a:rPr>
                        <a:t>لا مسار طوارئ محكوم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500" b="0">
                          <a:solidFill>
                            <a:srgbClr val="2E6B3E"/>
                          </a:solidFill>
                          <a:latin typeface="Neo Sans Arabic"/>
                        </a:rPr>
                        <a:t>مسار بموافقة مسبقة وسقف محدّد</a:t>
                      </a:r>
                    </a:p>
                  </a:txBody>
                  <a:tcPr anchor="ctr" marL="101600" marR="1016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سياسات المشتريات الحاكمة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37035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7044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القناة الموحّدة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كل شراء عبر المشتريات حصراً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2978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62696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2706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ثلاثة عروض إلزامية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لأي شراء مهما كان حجمه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417320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88358" y="1417320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1508760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مصفوفة الصلاحيات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الاعتماد حسب القيمة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7316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37035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7044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الدورة المستندية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مسار موحّد من الاحتياج للإغلاق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22978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962696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2706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اعتماد الموردين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قائمة معتمدة وتقييم دوري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2587752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88358" y="2587752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2679192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العقود الإطارية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للطلبات المتكررة والمستديمة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97316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737035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07044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سجل أسعار المناقصات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للمناقصات فقط لا للشراء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22978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962696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2706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مسار الطوارئ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بموافقة مسبقة موثّقة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758184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88358" y="3758184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849624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عهدة المشتريات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عهدة مستديمة بضوابط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7316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737035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07044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الاستثناءات الموثّقة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النثريات والبنية التحتية بسقف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22978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962696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32706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المطابقة قبل الصرف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طلب وأمر وفاتورة واستلام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28616"/>
            <a:ext cx="3728618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88358" y="4928616"/>
            <a:ext cx="88900" cy="10241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0056"/>
            <a:ext cx="3454298" cy="86868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300"/>
              </a:spcAft>
            </a:pPr>
            <a:r>
              <a:rPr sz="1600" b="1">
                <a:solidFill>
                  <a:srgbClr val="0E2A38"/>
                </a:solidFill>
                <a:latin typeface="Neo Sans Arabic"/>
              </a:rPr>
              <a:t>النزاهة والتوثيق</a:t>
            </a:r>
          </a:p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33404A"/>
                </a:solidFill>
                <a:latin typeface="Neo Sans Arabic"/>
              </a:rPr>
              <a:t>سرية العروض وأرشفة كاملة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الدورة الكاملة للمشتريات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95967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نشوء الاحتياج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36963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15555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طلب رسمي بالمواصفات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6551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35143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فحص المستودع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6139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4731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طلب ثلاثة عروض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1691640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1691640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المقارنة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2697480"/>
            <a:ext cx="2121408" cy="8686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5967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الاعتماد حسب الصلاحية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6963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15555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أمر الشراء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6551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35143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الاستلام والمطابقة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6139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654731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الصرف للمورد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95728" y="3566159"/>
            <a:ext cx="259003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6B747C"/>
                </a:solidFill>
                <a:latin typeface="Neo Sans Arabic"/>
              </a:rPr>
              <a:t>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74320" y="3566159"/>
            <a:ext cx="2121408" cy="10058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Neo Sans Arabic"/>
              </a:rPr>
              <a:t>الإغلاق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43600"/>
            <a:ext cx="11551615" cy="676656"/>
          </a:xfrm>
          <a:prstGeom prst="rect">
            <a:avLst/>
          </a:prstGeom>
          <a:solidFill>
            <a:srgbClr val="14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1795455" y="5943600"/>
            <a:ext cx="76200" cy="676656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5980176"/>
            <a:ext cx="11185855" cy="60350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200"/>
              </a:spcAft>
            </a:pPr>
            <a:r>
              <a:rPr sz="1100" b="1">
                <a:solidFill>
                  <a:srgbClr val="C9A24B"/>
                </a:solidFill>
                <a:latin typeface="Neo Sans Arabic"/>
              </a:rPr>
              <a:t>المطلوب</a:t>
            </a:r>
          </a:p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Neo Sans Arabic"/>
              </a:rPr>
              <a:t>ثلاثة عروض إلزامية في كل دورة — ولا توريد خارج هذا المسار.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إجراءات الدورة — المرحلة والمسؤول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87287.5" y="1371600"/>
          <a:ext cx="5547206" cy="46817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1) الاحتياج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تعبئة طلب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الطالبة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2) التسجيل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ترقيم ومراجعة الطلب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3) فحص المخزون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التأكد من عدم توفّره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4) طلب العروض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مخاطبة ثلاثة موردين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5) المقارنة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جدول مفاضلة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6) التوصية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ترشيح الأنسب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7) الاعتماد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الموافقة بالصلاحية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صاحب الصلاحية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71600"/>
          <a:ext cx="5547206" cy="4681728"/>
        </p:xfrm>
        <a:graphic>
          <a:graphicData uri="http://schemas.openxmlformats.org/drawingml/2006/table">
            <a:tbl rtl="1">
              <a:tblPr firstRow="1" bandRow="1">
                <a:tableStyleId>{5C22544A-7EE6-4342-B048-85BDC9FD1C3A}</a:tableStyleId>
              </a:tblPr>
              <a:tblGrid>
                <a:gridCol w="1733502"/>
                <a:gridCol w="2311336"/>
                <a:gridCol w="1502368"/>
              </a:tblGrid>
              <a:tr h="585216"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المرحلة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الإجراء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1">
                          <a:solidFill>
                            <a:srgbClr val="FFFFFF"/>
                          </a:solidFill>
                          <a:latin typeface="Neo Sans Arabic"/>
                        </a:rPr>
                        <a:t>المسؤول</a:t>
                      </a:r>
                    </a:p>
                  </a:txBody>
                  <a:tcPr anchor="ctr" marL="50800" marR="50800" marT="25400" marB="25400">
                    <a:solidFill>
                      <a:srgbClr val="0E2A3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8)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إصدار أمر الشراء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9) الإشعار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إشعار المورد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10) التوريد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متابعة التسليم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11) الاستلام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فحص المطابقة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المستودعات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12) المطابقة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مطابقة المستندات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13) الصرف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تحويل المستحق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المالية</a:t>
                      </a:r>
                    </a:p>
                  </a:txBody>
                  <a:tcPr anchor="ctr" marL="63500" marR="63500" marT="25400" marB="25400">
                    <a:solidFill>
                      <a:srgbClr val="F1ECE2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rtl="1" algn="r"/>
                      <a:r>
                        <a:rPr sz="1250" b="1">
                          <a:solidFill>
                            <a:srgbClr val="0E2A38"/>
                          </a:solidFill>
                          <a:latin typeface="Neo Sans Arabic"/>
                        </a:rPr>
                        <a:t>14) الإغلاق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r"/>
                      <a:r>
                        <a:rPr sz="1250" b="0">
                          <a:solidFill>
                            <a:srgbClr val="33404A"/>
                          </a:solidFill>
                          <a:latin typeface="Neo Sans Arabic"/>
                        </a:rPr>
                        <a:t>إقفال وأرشفة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rtl="1" algn="ctr"/>
                      <a:r>
                        <a:rPr sz="1250" b="0">
                          <a:solidFill>
                            <a:srgbClr val="0E2A38"/>
                          </a:solidFill>
                          <a:latin typeface="Neo Sans Arabic"/>
                        </a:rPr>
                        <a:t>المشتريات</a:t>
                      </a:r>
                    </a:p>
                  </a:txBody>
                  <a:tcPr anchor="ctr" marL="63500" marR="635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مصفوفة الصلاحيات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الثاني · المنظومة المقترحة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29471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الأول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29471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02623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25,000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مدير المشتريات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7287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الثاني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7287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0439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100,000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المشتريات والمالية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solidFill>
            <a:srgbClr val="9E2B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45103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الثالث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45103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18255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حتى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1554480"/>
            <a:ext cx="2796463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المستوى الرابع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76272"/>
            <a:ext cx="2796463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304288"/>
            <a:ext cx="2650159" cy="13716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1800" b="1">
                <a:solidFill>
                  <a:srgbClr val="0E2A38"/>
                </a:solidFill>
                <a:latin typeface="Neo Sans Arabic"/>
              </a:rPr>
              <a:t>أكثر من 500,000 ريال</a:t>
            </a:r>
          </a:p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المدير العام ولجنة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69080"/>
            <a:ext cx="11277295" cy="566928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700" b="1">
                <a:solidFill>
                  <a:srgbClr val="0E2A38"/>
                </a:solidFill>
                <a:latin typeface="Neo Sans Arabic"/>
              </a:rPr>
              <a:t>العروض الثلاثة قاعدة ثابتة في كل المستويات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400" b="0">
                <a:solidFill>
                  <a:srgbClr val="33404A"/>
                </a:solidFill>
                <a:latin typeface="Neo Sans Arabic"/>
              </a:rPr>
              <a:t>الاستثناءات (باعتماد مدير المشتريات): النثريات — البنية التحتية — المتعاقد عليه إطارياً — الطوارئ.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خارطة الطريق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97316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أول 30 يوماً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7316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34476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النموذج الموحّد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مصفوفة الصلاحيات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حصر الشراء بالمشتريات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التزام المالية الزمني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solidFill>
            <a:srgbClr val="C57A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2978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حتى 90 يوماً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2978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0138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سجل أسعار المناقصات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العقود الإطارية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عهدة وسائق للمشتريات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معالجة الملفات العالقة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1554480"/>
            <a:ext cx="372861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Neo Sans Arabic"/>
              </a:rPr>
              <a:t>المدى البعيد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2331720"/>
            <a:ext cx="37286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514600"/>
            <a:ext cx="340857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نظام مشتريات موحّد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لوحات متابعة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تقييم الموردين</a:t>
            </a:r>
          </a:p>
          <a:p>
            <a:pPr rtl="1" algn="r">
              <a:spcAft>
                <a:spcPts val="1600"/>
              </a:spcAft>
            </a:pPr>
            <a:r>
              <a:rPr sz="1600" b="0">
                <a:solidFill>
                  <a:srgbClr val="33404A"/>
                </a:solidFill>
                <a:latin typeface="Neo Sans Arabic"/>
              </a:rPr>
              <a:t>•  استراتيجية التوريد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مؤشرات النجاح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8127796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27796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زمن دورة الشراء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7796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تقليصه إلى النصف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38218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8218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بالدورة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8218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164592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164592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الالتزام بالعروض الثلاثة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230428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95٪ فأكثر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27796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27796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الطلبات المعلّقة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7796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إلى الصفر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38218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38218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التزام المالية بالتحويل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38218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90٪ فأكثر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429000"/>
            <a:ext cx="3698138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429000"/>
            <a:ext cx="3698138" cy="54864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Neo Sans Arabic"/>
              </a:rPr>
              <a:t>استجابة الموردين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087368"/>
            <a:ext cx="3698138" cy="731520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E6B3E"/>
                </a:solidFill>
                <a:latin typeface="Neo Sans Arabic"/>
              </a:rPr>
              <a:t>اتجاه متصاعد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3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24128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182880"/>
            <a:ext cx="8778240" cy="56692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500" b="1">
                <a:solidFill>
                  <a:srgbClr val="FFFFFF"/>
                </a:solidFill>
                <a:latin typeface="Neo Sans Arabic"/>
              </a:rPr>
              <a:t>القرارات المطلوبة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13232"/>
            <a:ext cx="877824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1">
                <a:solidFill>
                  <a:srgbClr val="C9A24B"/>
                </a:solidFill>
                <a:latin typeface="Neo Sans Arabic"/>
              </a:rPr>
              <a:t>الجزء الثالث · التنفيذ والقرار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74320"/>
            <a:ext cx="2926080" cy="5029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400" b="1">
                <a:solidFill>
                  <a:srgbClr val="C9A24B"/>
                </a:solidFill>
                <a:latin typeface="Neo Sans Arabic"/>
              </a:rPr>
              <a:t>مجموعة الذيابي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0167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31575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حصر كل شراء عبر المشتريات حصراً.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501487" y="150876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السياسات والدورة الكاملة.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70167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231575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7327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إقرار مصفوفة الصلاحيات والعروض الثلاثة.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46888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01487" y="246888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46888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إلزام المالية بمدة التحويل.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0167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231575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7327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إنشاء سجل أسعار للمناقصات.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342900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01487" y="342900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342900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تفويض العقود الإطارية.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70167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231575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07327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معالجة العهد وموارد المشتريات.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4389120"/>
            <a:ext cx="5547207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4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solidFill>
            <a:srgbClr val="2E6B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501487" y="4389120"/>
            <a:ext cx="685800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algn="ctr"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Neo Sans Arabic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4389120"/>
            <a:ext cx="4678527" cy="786384"/>
          </a:xfrm>
          <a:prstGeom prst="rect">
            <a:avLst/>
          </a:prstGeom>
          <a:noFill/>
        </p:spPr>
        <p:txBody>
          <a:bodyPr wrap="square" anchor="ctr" lIns="76200" rIns="76200" tIns="38100" bIns="3810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0E2A38"/>
                </a:solidFill>
                <a:latin typeface="Neo Sans Arabic"/>
              </a:rPr>
              <a:t>اعتماد خارطة الطريق والمؤشرات.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" y="6437376"/>
            <a:ext cx="1828800" cy="292608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6B747C"/>
                </a:solidFill>
                <a:latin typeface="Neo Sans Arabic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91695" cy="50800"/>
          </a:xfrm>
          <a:prstGeom prst="rect">
            <a:avLst/>
          </a:prstGeom>
          <a:solidFill>
            <a:srgbClr val="C9A2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62895" cy="100584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3400" b="1">
                <a:solidFill>
                  <a:srgbClr val="FFFFFF"/>
                </a:solidFill>
                <a:latin typeface="Neo Sans Arabic"/>
              </a:rPr>
              <a:t>منظومة واضحة تحمي المال وتنظّم التوريد.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62895" cy="73152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800" b="0">
                <a:solidFill>
                  <a:srgbClr val="C9A24B"/>
                </a:solidFill>
                <a:latin typeface="Neo Sans Arabic"/>
              </a:rPr>
              <a:t>وفريق المشتريات جاهز للتنفيذ فور الاعتماد.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62895" cy="457200"/>
          </a:xfrm>
          <a:prstGeom prst="rect">
            <a:avLst/>
          </a:prstGeom>
          <a:noFill/>
        </p:spPr>
        <p:txBody>
          <a:bodyPr wrap="square" anchor="t" lIns="76200" rIns="76200" tIns="38100" bIns="3810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F6F3ED"/>
                </a:solidFill>
                <a:latin typeface="Neo Sans Arabic"/>
              </a:rPr>
              <a:t>مع وافر الاحترام والتقدير — إدارة العمليات والمشتريات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