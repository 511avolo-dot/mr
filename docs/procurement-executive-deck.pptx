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08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40080"/>
            <a:ext cx="10362895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B08D57"/>
                </a:solidFill>
                <a:latin typeface="Arial"/>
              </a:rPr>
              <a:t>مجموعة الذيابي للمقاولات   |   AL-DEYABI GROUP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728655" cy="100584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إعادة هيكلة وحوكمة منظومة المشتريات وسلسلة الإمداد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10362895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800" b="0">
                <a:solidFill>
                  <a:srgbClr val="B08D57"/>
                </a:solidFill>
                <a:latin typeface="Arial"/>
              </a:rPr>
              <a:t>من العمل التفاعلي (Reactive) إلى منظومة مؤسسية محوكمة (Governed Procurement)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362895" cy="146304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ctr"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وثيقة قرار تنفيذي — Executive Decision Document</a:t>
            </a:r>
          </a:p>
          <a:p>
            <a:pPr rtl="1" algn="ctr">
              <a:spcAft>
                <a:spcPts val="800"/>
              </a:spcAft>
            </a:pPr>
            <a:r>
              <a:rPr sz="1500" b="0">
                <a:solidFill>
                  <a:srgbClr val="F4F1EA"/>
                </a:solidFill>
                <a:latin typeface="Arial"/>
              </a:rPr>
              <a:t>مُوجَّه إلى: سعادة المدير العام والإدارة التنفيذية</a:t>
            </a:r>
          </a:p>
          <a:p>
            <a:pPr rtl="1" algn="ctr">
              <a:spcAft>
                <a:spcPts val="800"/>
              </a:spcAft>
            </a:pPr>
            <a:r>
              <a:rPr sz="1500" b="0">
                <a:solidFill>
                  <a:srgbClr val="F4F1EA"/>
                </a:solidFill>
                <a:latin typeface="Arial"/>
              </a:rPr>
              <a:t>إعداد: إدارة العمليات / المشتريات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35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82735" y="164592"/>
            <a:ext cx="2926080" cy="82296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400" b="1">
                <a:solidFill>
                  <a:srgbClr val="B08D57"/>
                </a:solidFill>
                <a:latin typeface="Arial"/>
              </a:rPr>
              <a:t>مجموعة الذيابي للمقاولات</a:t>
            </a:r>
          </a:p>
          <a:p>
            <a:pPr rtl="1" algn="r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AL-DEYABI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46304"/>
            <a:ext cx="87782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الملخص التنفيذي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76656"/>
            <a:ext cx="87782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B08D57"/>
                </a:solidFill>
                <a:latin typeface="Arial"/>
              </a:rPr>
              <a:t>Executive Summary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B6670"/>
                </a:solidFill>
                <a:latin typeface="Arial"/>
              </a:rPr>
              <a:t>2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400"/>
              </a:spcAft>
            </a:pPr>
            <a:r>
              <a:rPr sz="1700" b="1">
                <a:solidFill>
                  <a:srgbClr val="222A33"/>
                </a:solidFill>
                <a:latin typeface="Arial"/>
              </a:rPr>
              <a:t>•  قسم المشتريات يُدار ضمن بيئة غير محوكمة (Ungoverned) تفتقر لنظام موحّد ومصفوفة صلاحيات وسجل أسعار مرجعي.</a:t>
            </a:r>
          </a:p>
          <a:p>
            <a:pPr rtl="1" algn="r">
              <a:spcAft>
                <a:spcPts val="1400"/>
              </a:spcAft>
            </a:pPr>
            <a:r>
              <a:rPr sz="1700" b="0">
                <a:solidFill>
                  <a:srgbClr val="222A33"/>
                </a:solidFill>
                <a:latin typeface="Arial"/>
              </a:rPr>
              <a:t>•  النتيجة: تسرّب مالي (Cost Leakage)، وازدواجية إنفاق، وتآكل قوّتنا التفاوضية مع الموردين.</a:t>
            </a:r>
          </a:p>
          <a:p>
            <a:pPr rtl="1" algn="r">
              <a:spcAft>
                <a:spcPts val="1400"/>
              </a:spcAft>
            </a:pPr>
            <a:r>
              <a:rPr sz="1700" b="0">
                <a:solidFill>
                  <a:srgbClr val="222A33"/>
                </a:solidFill>
                <a:latin typeface="Arial"/>
              </a:rPr>
              <a:t>•  المشكلة ليست في الأداء الفردي، بل في غياب البنية المؤسسية (Operating Model) التي تحكم التدفق.</a:t>
            </a:r>
          </a:p>
          <a:p>
            <a:pPr rtl="1" algn="r">
              <a:spcAft>
                <a:spcPts val="1400"/>
              </a:spcAft>
            </a:pPr>
            <a:r>
              <a:rPr sz="1700" b="0">
                <a:solidFill>
                  <a:srgbClr val="222A33"/>
                </a:solidFill>
                <a:latin typeface="Arial"/>
              </a:rPr>
              <a:t>•  المشتريات نقطة التقاء حرجة بين: المالية، المستودعات، إدارات المشاريع، والصيانة والتشغيل — أي خلل يتضخّم عبر السلسلة.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5806440"/>
            <a:ext cx="11643055" cy="73152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566855" y="5806440"/>
            <a:ext cx="76200" cy="73152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5861304"/>
            <a:ext cx="11185855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200" b="1">
                <a:solidFill>
                  <a:srgbClr val="B08D57"/>
                </a:solidFill>
                <a:latin typeface="Arial"/>
              </a:rPr>
              <a:t>القرار المطلوب</a:t>
            </a:r>
          </a:p>
          <a:p>
            <a:pPr rtl="1" algn="r"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اعتماد مبدأ «قناة مشتريات موحّدة وإلزامية» (Single Procurement Channel) والمصادقة على خارطة الطريق (30/90 يوماً + مدى بعيد).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35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82735" y="164592"/>
            <a:ext cx="2926080" cy="82296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400" b="1">
                <a:solidFill>
                  <a:srgbClr val="B08D57"/>
                </a:solidFill>
                <a:latin typeface="Arial"/>
              </a:rPr>
              <a:t>مجموعة الذيابي للمقاولات</a:t>
            </a:r>
          </a:p>
          <a:p>
            <a:pPr rtl="1" algn="r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AL-DEYABI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46304"/>
            <a:ext cx="87782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خريطة التحديات الحالية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76656"/>
            <a:ext cx="87782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B08D57"/>
                </a:solidFill>
                <a:latin typeface="Arial"/>
              </a:rPr>
              <a:t>Current State &amp; Gap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B6670"/>
                </a:solidFill>
                <a:latin typeface="Arial"/>
              </a:rPr>
              <a:t>3 / 16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371600"/>
          <a:ext cx="11460174" cy="3785616"/>
        </p:xfrm>
        <a:graphic>
          <a:graphicData uri="http://schemas.openxmlformats.org/drawingml/2006/table">
            <a:tbl rtl="1">
              <a:tblPr firstRow="1" bandRow="1" a:rtl="1">
                <a:tableStyleId>{5C22544A-7EE6-4342-B048-85BDC9FD1C3A}</a:tableStyleId>
              </a:tblPr>
              <a:tblGrid>
                <a:gridCol w="567335"/>
                <a:gridCol w="4538683"/>
                <a:gridCol w="1815473"/>
                <a:gridCol w="4538683"/>
              </a:tblGrid>
              <a:tr h="420624">
                <a:tc>
                  <a:txBody>
                    <a:bodyPr/>
                    <a:lstStyle/>
                    <a:p>
                      <a:pPr rtl="1"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anchor="ctr" marL="50800" marR="50800" marT="25400" marB="25400">
                    <a:solidFill>
                      <a:srgbClr val="1F2A3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التحدي التشغيلي</a:t>
                      </a:r>
                    </a:p>
                  </a:txBody>
                  <a:tcPr anchor="ctr" marL="50800" marR="50800" marT="25400" marB="25400">
                    <a:solidFill>
                      <a:srgbClr val="1F2A3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التصنيف</a:t>
                      </a:r>
                    </a:p>
                  </a:txBody>
                  <a:tcPr anchor="ctr" marL="50800" marR="50800" marT="25400" marB="25400">
                    <a:solidFill>
                      <a:srgbClr val="1F2A3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الأثر على الشركة</a:t>
                      </a:r>
                    </a:p>
                  </a:txBody>
                  <a:tcPr anchor="ctr" marL="50800" marR="50800" marT="25400" marB="25400">
                    <a:solidFill>
                      <a:srgbClr val="1F2A3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222A33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222A33"/>
                          </a:solidFill>
                          <a:latin typeface="Arial"/>
                        </a:rPr>
                        <a:t>تعدّد جهات الطلب وغياب القناة الموحّدة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5B6670"/>
                          </a:solidFill>
                          <a:latin typeface="Arial"/>
                        </a:rPr>
                        <a:t>حوكمة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222A33"/>
                          </a:solidFill>
                          <a:latin typeface="Arial"/>
                        </a:rPr>
                        <a:t>فقدان الرؤية الكاملة (E2E Visibility)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222A33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 marL="50800" marR="50800" marT="25400" marB="25400">
                    <a:solidFill>
                      <a:srgbClr val="ECE7D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222A33"/>
                          </a:solidFill>
                          <a:latin typeface="Arial"/>
                        </a:rPr>
                        <a:t>ازدواجية التوريد (صنف ورّدته الصيانة فعلاً)</a:t>
                      </a:r>
                    </a:p>
                  </a:txBody>
                  <a:tcPr anchor="ctr" marL="50800" marR="50800" marT="25400" marB="25400">
                    <a:solidFill>
                      <a:srgbClr val="ECE7D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مالي حرج</a:t>
                      </a:r>
                    </a:p>
                  </a:txBody>
                  <a:tcPr anchor="ctr" marL="50800" marR="50800" marT="25400" marB="25400"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222A33"/>
                          </a:solidFill>
                          <a:latin typeface="Arial"/>
                        </a:rPr>
                        <a:t>التزام مالي مزدوج + إهدار جهد</a:t>
                      </a:r>
                    </a:p>
                  </a:txBody>
                  <a:tcPr anchor="ctr" marL="50800" marR="50800" marT="25400" marB="25400">
                    <a:solidFill>
                      <a:srgbClr val="ECE7D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222A33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222A33"/>
                          </a:solidFill>
                          <a:latin typeface="Arial"/>
                        </a:rPr>
                        <a:t>الشراء المباشر خارج المشتريات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رقابي</a:t>
                      </a:r>
                    </a:p>
                  </a:txBody>
                  <a:tcPr anchor="ctr" marL="50800" marR="50800" marT="25400" marB="25400">
                    <a:solidFill>
                      <a:srgbClr val="E08E0B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222A33"/>
                          </a:solidFill>
                          <a:latin typeface="Arial"/>
                        </a:rPr>
                        <a:t>تسرّب التكلفة + ضعف تفاوضي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222A33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 marL="50800" marR="50800" marT="25400" marB="25400">
                    <a:solidFill>
                      <a:srgbClr val="ECE7D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222A33"/>
                          </a:solidFill>
                          <a:latin typeface="Arial"/>
                        </a:rPr>
                        <a:t>الإفراط في صفة «عاجل/مستعجل»</a:t>
                      </a:r>
                    </a:p>
                  </a:txBody>
                  <a:tcPr anchor="ctr" marL="50800" marR="50800" marT="25400" marB="25400">
                    <a:solidFill>
                      <a:srgbClr val="ECE7D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سمعة</a:t>
                      </a:r>
                    </a:p>
                  </a:txBody>
                  <a:tcPr anchor="ctr" marL="50800" marR="50800" marT="25400" marB="25400">
                    <a:solidFill>
                      <a:srgbClr val="E08E0B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222A33"/>
                          </a:solidFill>
                          <a:latin typeface="Arial"/>
                        </a:rPr>
                        <a:t>تآكل مصداقيتنا كعميل لدى الموردين</a:t>
                      </a:r>
                    </a:p>
                  </a:txBody>
                  <a:tcPr anchor="ctr" marL="50800" marR="50800" marT="25400" marB="25400">
                    <a:solidFill>
                      <a:srgbClr val="ECE7D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222A3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222A33"/>
                          </a:solidFill>
                          <a:latin typeface="Arial"/>
                        </a:rPr>
                        <a:t>طلبات معلّقة دون بتّ لفترات طويلة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5B6670"/>
                          </a:solidFill>
                          <a:latin typeface="Arial"/>
                        </a:rPr>
                        <a:t>تشغيلي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222A33"/>
                          </a:solidFill>
                          <a:latin typeface="Arial"/>
                        </a:rPr>
                        <a:t>تراكم + تأخّر تنفيذ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222A33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anchor="ctr" marL="50800" marR="50800" marT="25400" marB="25400">
                    <a:solidFill>
                      <a:srgbClr val="ECE7D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222A33"/>
                          </a:solidFill>
                          <a:latin typeface="Arial"/>
                        </a:rPr>
                        <a:t>غياب سجل أسعار مرجعي (Price Master)</a:t>
                      </a:r>
                    </a:p>
                  </a:txBody>
                  <a:tcPr anchor="ctr" marL="50800" marR="50800" marT="25400" marB="25400">
                    <a:solidFill>
                      <a:srgbClr val="ECE7D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مالي</a:t>
                      </a:r>
                    </a:p>
                  </a:txBody>
                  <a:tcPr anchor="ctr" marL="50800" marR="50800" marT="25400" marB="25400">
                    <a:solidFill>
                      <a:srgbClr val="E08E0B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222A33"/>
                          </a:solidFill>
                          <a:latin typeface="Arial"/>
                        </a:rPr>
                        <a:t>تكرار التسعير + تفاوت أسعار الصنف</a:t>
                      </a:r>
                    </a:p>
                  </a:txBody>
                  <a:tcPr anchor="ctr" marL="50800" marR="50800" marT="25400" marB="25400">
                    <a:solidFill>
                      <a:srgbClr val="ECE7D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222A33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222A33"/>
                          </a:solidFill>
                          <a:latin typeface="Arial"/>
                        </a:rPr>
                        <a:t>غياب مصفوفة الصلاحيات (Approval Matrix)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5B6670"/>
                          </a:solidFill>
                          <a:latin typeface="Arial"/>
                        </a:rPr>
                        <a:t>حوكمة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222A33"/>
                          </a:solidFill>
                          <a:latin typeface="Arial"/>
                        </a:rPr>
                        <a:t>عشوائية الاعتماد والتعميد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222A33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anchor="ctr" marL="50800" marR="50800" marT="25400" marB="25400">
                    <a:solidFill>
                      <a:srgbClr val="ECE7D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222A33"/>
                          </a:solidFill>
                          <a:latin typeface="Arial"/>
                        </a:rPr>
                        <a:t>اختناق التحويل المالي للموردين</a:t>
                      </a:r>
                    </a:p>
                  </a:txBody>
                  <a:tcPr anchor="ctr" marL="50800" marR="50800" marT="25400" marB="25400">
                    <a:solidFill>
                      <a:srgbClr val="ECE7D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مالي حرج</a:t>
                      </a:r>
                    </a:p>
                  </a:txBody>
                  <a:tcPr anchor="ctr" marL="50800" marR="50800" marT="25400" marB="25400"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222A33"/>
                          </a:solidFill>
                          <a:latin typeface="Arial"/>
                        </a:rPr>
                        <a:t>تعطّل التوريد + إضرار بالعلاقات</a:t>
                      </a:r>
                    </a:p>
                  </a:txBody>
                  <a:tcPr anchor="ctr" marL="50800" marR="50800" marT="25400" marB="25400">
                    <a:solidFill>
                      <a:srgbClr val="ECE7DD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274320" y="5806440"/>
            <a:ext cx="11643055" cy="73152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566855" y="5806440"/>
            <a:ext cx="76200" cy="73152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5861304"/>
            <a:ext cx="11185855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200" b="1">
                <a:solidFill>
                  <a:srgbClr val="B08D57"/>
                </a:solidFill>
                <a:latin typeface="Arial"/>
              </a:rPr>
              <a:t>القرار المطلوب</a:t>
            </a:r>
          </a:p>
          <a:p>
            <a:pPr rtl="1" algn="r"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إقرار القائمة كـ«سجل مخاطر تشغيلية رسمي» (Operational Risk Register) يُتابَع دورياً.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35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82735" y="164592"/>
            <a:ext cx="2926080" cy="82296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400" b="1">
                <a:solidFill>
                  <a:srgbClr val="B08D57"/>
                </a:solidFill>
                <a:latin typeface="Arial"/>
              </a:rPr>
              <a:t>مجموعة الذيابي للمقاولات</a:t>
            </a:r>
          </a:p>
          <a:p>
            <a:pPr rtl="1" algn="r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AL-DEYABI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46304"/>
            <a:ext cx="87782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من «الشكوى» إلى «الأثر على الربحية»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76656"/>
            <a:ext cx="87782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B08D57"/>
                </a:solidFill>
                <a:latin typeface="Arial"/>
              </a:rPr>
              <a:t>Reframing the Narrative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B6670"/>
                </a:solidFill>
                <a:latin typeface="Arial"/>
              </a:rPr>
              <a:t>4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7287" y="1417320"/>
            <a:ext cx="5638647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1F2A37"/>
                </a:solidFill>
                <a:latin typeface="Arial"/>
              </a:rPr>
              <a:t>المشتريات = مركز توفير محتمل (Value Center) لا مركز تكلفة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554720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011680"/>
            <a:ext cx="88900" cy="9601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084832"/>
            <a:ext cx="5364327" cy="82296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1600" b="1">
                <a:solidFill>
                  <a:srgbClr val="1F2A37"/>
                </a:solidFill>
                <a:latin typeface="Arial"/>
              </a:rPr>
              <a:t>ازدواجية التوريد</a:t>
            </a:r>
          </a:p>
          <a:p>
            <a:pPr rtl="1" algn="r">
              <a:spcAft>
                <a:spcPts val="400"/>
              </a:spcAft>
            </a:pPr>
            <a:r>
              <a:rPr sz="1300" b="0">
                <a:solidFill>
                  <a:srgbClr val="5B6670"/>
                </a:solidFill>
                <a:latin typeface="Arial"/>
              </a:rPr>
              <a:t>دفع مرتين لنفس الاحتياج (Double Payment Risk)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2011680"/>
            <a:ext cx="554720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2011680"/>
            <a:ext cx="88900" cy="960120"/>
          </a:xfrm>
          <a:prstGeom prst="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4447" y="2084832"/>
            <a:ext cx="5364327" cy="82296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1600" b="1">
                <a:solidFill>
                  <a:srgbClr val="1F2A37"/>
                </a:solidFill>
                <a:latin typeface="Arial"/>
              </a:rPr>
              <a:t>غياب سجل الأسعار</a:t>
            </a:r>
          </a:p>
          <a:p>
            <a:pPr rtl="1" algn="r">
              <a:spcAft>
                <a:spcPts val="400"/>
              </a:spcAft>
            </a:pPr>
            <a:r>
              <a:rPr sz="1300" b="0">
                <a:solidFill>
                  <a:srgbClr val="5B6670"/>
                </a:solidFill>
                <a:latin typeface="Arial"/>
              </a:rPr>
              <a:t>تفاوت سعر الصنف عبر المشاريع (Price Variance)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154680"/>
            <a:ext cx="554720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154680"/>
            <a:ext cx="88900" cy="960120"/>
          </a:xfrm>
          <a:prstGeom prst="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227832"/>
            <a:ext cx="5364327" cy="82296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1600" b="1">
                <a:solidFill>
                  <a:srgbClr val="1F2A37"/>
                </a:solidFill>
                <a:latin typeface="Arial"/>
              </a:rPr>
              <a:t>الشراء المباشر</a:t>
            </a:r>
          </a:p>
          <a:p>
            <a:pPr rtl="1" algn="r">
              <a:spcAft>
                <a:spcPts val="400"/>
              </a:spcAft>
            </a:pPr>
            <a:r>
              <a:rPr sz="1300" b="0">
                <a:solidFill>
                  <a:srgbClr val="5B6670"/>
                </a:solidFill>
                <a:latin typeface="Arial"/>
              </a:rPr>
              <a:t>فقدان وفورات التجميع (Economies of Scale)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33007" y="3154680"/>
            <a:ext cx="554720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3007" y="3154680"/>
            <a:ext cx="88900" cy="9601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4447" y="3227832"/>
            <a:ext cx="5364327" cy="82296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1600" b="1">
                <a:solidFill>
                  <a:srgbClr val="1F2A37"/>
                </a:solidFill>
                <a:latin typeface="Arial"/>
              </a:rPr>
              <a:t>«العاجل» الزائف</a:t>
            </a:r>
          </a:p>
          <a:p>
            <a:pPr rtl="1" algn="r">
              <a:spcAft>
                <a:spcPts val="400"/>
              </a:spcAft>
            </a:pPr>
            <a:r>
              <a:rPr sz="1300" b="0">
                <a:solidFill>
                  <a:srgbClr val="5B6670"/>
                </a:solidFill>
                <a:latin typeface="Arial"/>
              </a:rPr>
              <a:t>أسعار أعلى مقابل السرعة (Urgency Premium)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806440"/>
            <a:ext cx="11643055" cy="73152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566855" y="5806440"/>
            <a:ext cx="76200" cy="73152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861304"/>
            <a:ext cx="11185855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200" b="1">
                <a:solidFill>
                  <a:srgbClr val="B08D57"/>
                </a:solidFill>
                <a:latin typeface="Arial"/>
              </a:rPr>
              <a:t>القرار المطلوب</a:t>
            </a:r>
          </a:p>
          <a:p>
            <a:pPr rtl="1" algn="r"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تكليف المشتريات بقياس «الوفر المحقّق» (Realized Savings) كمؤشر أداء معتمد ربع سنوي.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35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82735" y="164592"/>
            <a:ext cx="2926080" cy="82296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400" b="1">
                <a:solidFill>
                  <a:srgbClr val="B08D57"/>
                </a:solidFill>
                <a:latin typeface="Arial"/>
              </a:rPr>
              <a:t>مجموعة الذيابي للمقاولات</a:t>
            </a:r>
          </a:p>
          <a:p>
            <a:pPr rtl="1" algn="r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AL-DEYABI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46304"/>
            <a:ext cx="87782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الفجوة الجوهرية: غياب النموذج التشغيلي الموحّد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76656"/>
            <a:ext cx="87782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B08D57"/>
                </a:solidFill>
                <a:latin typeface="Arial"/>
              </a:rPr>
              <a:t>Root-Cause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B6670"/>
                </a:solidFill>
                <a:latin typeface="Arial"/>
              </a:rPr>
              <a:t>5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11277295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002975" y="1554480"/>
            <a:ext cx="731520" cy="7772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554480"/>
            <a:ext cx="731520" cy="77724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>
                <a:solidFill>
                  <a:srgbClr val="B08D57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609344"/>
            <a:ext cx="10180015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700" b="1">
                <a:solidFill>
                  <a:srgbClr val="1F2A37"/>
                </a:solidFill>
                <a:latin typeface="Arial"/>
              </a:rPr>
              <a:t>فجوة الأنظمة  —  System Gap</a:t>
            </a:r>
          </a:p>
          <a:p>
            <a:pPr rtl="1" algn="r">
              <a:spcAft>
                <a:spcPts val="200"/>
              </a:spcAft>
            </a:pPr>
            <a:r>
              <a:rPr sz="1400" b="0">
                <a:solidFill>
                  <a:srgbClr val="5B6670"/>
                </a:solidFill>
                <a:latin typeface="Arial"/>
              </a:rPr>
              <a:t>لا نظام موحّد لتلقّي الطلبات (بريد / واتساب / شفهي)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468880"/>
            <a:ext cx="11277295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002975" y="2468880"/>
            <a:ext cx="731520" cy="7772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02975" y="2468880"/>
            <a:ext cx="731520" cy="77724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>
                <a:solidFill>
                  <a:srgbClr val="B08D57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523744"/>
            <a:ext cx="10180015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700" b="1">
                <a:solidFill>
                  <a:srgbClr val="1F2A37"/>
                </a:solidFill>
                <a:latin typeface="Arial"/>
              </a:rPr>
              <a:t>فجوة الصلاحيات  —  Authority Gap</a:t>
            </a:r>
          </a:p>
          <a:p>
            <a:pPr rtl="1" algn="r">
              <a:spcAft>
                <a:spcPts val="200"/>
              </a:spcAft>
            </a:pPr>
            <a:r>
              <a:rPr sz="1400" b="0">
                <a:solidFill>
                  <a:srgbClr val="5B6670"/>
                </a:solidFill>
                <a:latin typeface="Arial"/>
              </a:rPr>
              <a:t>لا مصفوفة اعتماد واضحة حسب القيمة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83280"/>
            <a:ext cx="11277295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002975" y="3383280"/>
            <a:ext cx="731520" cy="7772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02975" y="3383280"/>
            <a:ext cx="731520" cy="77724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>
                <a:solidFill>
                  <a:srgbClr val="B08D57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438144"/>
            <a:ext cx="10180015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700" b="1">
                <a:solidFill>
                  <a:srgbClr val="1F2A37"/>
                </a:solidFill>
                <a:latin typeface="Arial"/>
              </a:rPr>
              <a:t>فجوة البيانات  —  Data Gap</a:t>
            </a:r>
          </a:p>
          <a:p>
            <a:pPr rtl="1" algn="r">
              <a:spcAft>
                <a:spcPts val="200"/>
              </a:spcAft>
            </a:pPr>
            <a:r>
              <a:rPr sz="1400" b="0">
                <a:solidFill>
                  <a:srgbClr val="5B6670"/>
                </a:solidFill>
                <a:latin typeface="Arial"/>
              </a:rPr>
              <a:t>لا سجل أسعار ولا قاعدة موردين معتمدة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297680"/>
            <a:ext cx="11277295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002975" y="4297680"/>
            <a:ext cx="731520" cy="7772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02975" y="4297680"/>
            <a:ext cx="731520" cy="77724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>
                <a:solidFill>
                  <a:srgbClr val="B08D57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352544"/>
            <a:ext cx="10180015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700" b="1">
                <a:solidFill>
                  <a:srgbClr val="1F2A37"/>
                </a:solidFill>
                <a:latin typeface="Arial"/>
              </a:rPr>
              <a:t>فجوة الالتزام  —  Compliance Gap</a:t>
            </a:r>
          </a:p>
          <a:p>
            <a:pPr rtl="1" algn="r">
              <a:spcAft>
                <a:spcPts val="200"/>
              </a:spcAft>
            </a:pPr>
            <a:r>
              <a:rPr sz="1400" b="0">
                <a:solidFill>
                  <a:srgbClr val="5B6670"/>
                </a:solidFill>
                <a:latin typeface="Arial"/>
              </a:rPr>
              <a:t>الدورة المعتمدة غير مُلزِمة عملياً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35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82735" y="164592"/>
            <a:ext cx="2926080" cy="82296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400" b="1">
                <a:solidFill>
                  <a:srgbClr val="B08D57"/>
                </a:solidFill>
                <a:latin typeface="Arial"/>
              </a:rPr>
              <a:t>مجموعة الذيابي للمقاولات</a:t>
            </a:r>
          </a:p>
          <a:p>
            <a:pPr rtl="1" algn="r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AL-DEYABI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46304"/>
            <a:ext cx="87782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المشتريات كعقدة مركزية في سلسلة القيمة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76656"/>
            <a:ext cx="87782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B08D57"/>
                </a:solidFill>
                <a:latin typeface="Arial"/>
              </a:rPr>
              <a:t>Cross-Functional Dependencies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B6670"/>
                </a:solidFill>
                <a:latin typeface="Arial"/>
              </a:rPr>
              <a:t>6 / 16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417320"/>
          <a:ext cx="11460172" cy="2834640"/>
        </p:xfrm>
        <a:graphic>
          <a:graphicData uri="http://schemas.openxmlformats.org/drawingml/2006/table">
            <a:tbl rtl="1">
              <a:tblPr firstRow="1" bandRow="1" a:rtl="1">
                <a:tableStyleId>{5C22544A-7EE6-4342-B048-85BDC9FD1C3A}</a:tableStyleId>
              </a:tblPr>
              <a:tblGrid>
                <a:gridCol w="1697803"/>
                <a:gridCol w="3183381"/>
                <a:gridCol w="3183381"/>
                <a:gridCol w="3395607"/>
              </a:tblGrid>
              <a:tr h="566928">
                <a:tc>
                  <a:txBody>
                    <a:bodyPr/>
                    <a:lstStyle/>
                    <a:p>
                      <a:pPr rtl="1"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الإدارة</a:t>
                      </a:r>
                    </a:p>
                  </a:txBody>
                  <a:tcPr anchor="ctr" marL="50800" marR="50800" marT="25400" marB="25400">
                    <a:solidFill>
                      <a:srgbClr val="1F2A3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مُدخل للمشتريات</a:t>
                      </a:r>
                    </a:p>
                  </a:txBody>
                  <a:tcPr anchor="ctr" marL="50800" marR="50800" marT="25400" marB="25400">
                    <a:solidFill>
                      <a:srgbClr val="1F2A3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تتأثر بالمشتريات</a:t>
                      </a:r>
                    </a:p>
                  </a:txBody>
                  <a:tcPr anchor="ctr" marL="50800" marR="50800" marT="25400" marB="25400">
                    <a:solidFill>
                      <a:srgbClr val="1F2A3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نقطة الاحتكاك الحالية</a:t>
                      </a:r>
                    </a:p>
                  </a:txBody>
                  <a:tcPr anchor="ctr" marL="50800" marR="50800" marT="25400" marB="25400">
                    <a:solidFill>
                      <a:srgbClr val="1F2A3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rtl="1" algn="ctr"/>
                      <a:r>
                        <a:rPr sz="1300" b="0">
                          <a:solidFill>
                            <a:srgbClr val="222A33"/>
                          </a:solidFill>
                          <a:latin typeface="Arial"/>
                        </a:rPr>
                        <a:t>الإدارات الطالبة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0">
                          <a:solidFill>
                            <a:srgbClr val="222A33"/>
                          </a:solidFill>
                          <a:latin typeface="Arial"/>
                        </a:rPr>
                        <a:t>طلب احتياج (PR) بمواصفات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0">
                          <a:solidFill>
                            <a:srgbClr val="222A33"/>
                          </a:solidFill>
                          <a:latin typeface="Arial"/>
                        </a:rPr>
                        <a:t>استلام الصنف في الوقت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0">
                          <a:solidFill>
                            <a:srgbClr val="222A33"/>
                          </a:solidFill>
                          <a:latin typeface="Arial"/>
                        </a:rPr>
                        <a:t>طلبات ناقصة + شراء مباشر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rtl="1" algn="ctr"/>
                      <a:r>
                        <a:rPr sz="1300" b="0">
                          <a:solidFill>
                            <a:srgbClr val="222A33"/>
                          </a:solidFill>
                          <a:latin typeface="Arial"/>
                        </a:rPr>
                        <a:t>المالية</a:t>
                      </a:r>
                    </a:p>
                  </a:txBody>
                  <a:tcPr anchor="ctr" marL="50800" marR="50800" marT="25400" marB="25400">
                    <a:solidFill>
                      <a:srgbClr val="ECE7D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0">
                          <a:solidFill>
                            <a:srgbClr val="222A33"/>
                          </a:solidFill>
                          <a:latin typeface="Arial"/>
                        </a:rPr>
                        <a:t>اعتماد + تحويل للمورد</a:t>
                      </a:r>
                    </a:p>
                  </a:txBody>
                  <a:tcPr anchor="ctr" marL="50800" marR="50800" marT="25400" marB="25400">
                    <a:solidFill>
                      <a:srgbClr val="ECE7D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0">
                          <a:solidFill>
                            <a:srgbClr val="222A33"/>
                          </a:solidFill>
                          <a:latin typeface="Arial"/>
                        </a:rPr>
                        <a:t>كفاءة الإنفاق والسيولة</a:t>
                      </a:r>
                    </a:p>
                  </a:txBody>
                  <a:tcPr anchor="ctr" marL="50800" marR="50800" marT="25400" marB="25400">
                    <a:solidFill>
                      <a:srgbClr val="ECE7D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C0392B"/>
                          </a:solidFill>
                          <a:latin typeface="Arial"/>
                        </a:rPr>
                        <a:t>بطء التحويل (Bottleneck)</a:t>
                      </a:r>
                    </a:p>
                  </a:txBody>
                  <a:tcPr anchor="ctr" marL="50800" marR="50800" marT="25400" marB="25400">
                    <a:solidFill>
                      <a:srgbClr val="ECE7D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rtl="1" algn="ctr"/>
                      <a:r>
                        <a:rPr sz="1300" b="0">
                          <a:solidFill>
                            <a:srgbClr val="222A33"/>
                          </a:solidFill>
                          <a:latin typeface="Arial"/>
                        </a:rPr>
                        <a:t>المستودعات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0">
                          <a:solidFill>
                            <a:srgbClr val="222A33"/>
                          </a:solidFill>
                          <a:latin typeface="Arial"/>
                        </a:rPr>
                        <a:t>رصيد متاح + استلام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0">
                          <a:solidFill>
                            <a:srgbClr val="222A33"/>
                          </a:solidFill>
                          <a:latin typeface="Arial"/>
                        </a:rPr>
                        <a:t>دقة التخطيط ومنع التكرار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0">
                          <a:solidFill>
                            <a:srgbClr val="222A33"/>
                          </a:solidFill>
                          <a:latin typeface="Arial"/>
                        </a:rPr>
                        <a:t>ضعف ربط الرصيد بالطلب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rtl="1" algn="ctr"/>
                      <a:r>
                        <a:rPr sz="1300" b="0">
                          <a:solidFill>
                            <a:srgbClr val="222A33"/>
                          </a:solidFill>
                          <a:latin typeface="Arial"/>
                        </a:rPr>
                        <a:t>الموردون</a:t>
                      </a:r>
                    </a:p>
                  </a:txBody>
                  <a:tcPr anchor="ctr" marL="50800" marR="50800" marT="25400" marB="25400">
                    <a:solidFill>
                      <a:srgbClr val="ECE7D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0">
                          <a:solidFill>
                            <a:srgbClr val="222A33"/>
                          </a:solidFill>
                          <a:latin typeface="Arial"/>
                        </a:rPr>
                        <a:t>عروض + توريد</a:t>
                      </a:r>
                    </a:p>
                  </a:txBody>
                  <a:tcPr anchor="ctr" marL="50800" marR="50800" marT="25400" marB="25400">
                    <a:solidFill>
                      <a:srgbClr val="ECE7D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0">
                          <a:solidFill>
                            <a:srgbClr val="222A33"/>
                          </a:solidFill>
                          <a:latin typeface="Arial"/>
                        </a:rPr>
                        <a:t>استمرارية وأسعار تنافسية</a:t>
                      </a:r>
                    </a:p>
                  </a:txBody>
                  <a:tcPr anchor="ctr" marL="50800" marR="50800" marT="25400" marB="25400">
                    <a:solidFill>
                      <a:srgbClr val="ECE7D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C0392B"/>
                          </a:solidFill>
                          <a:latin typeface="Arial"/>
                        </a:rPr>
                        <a:t>تآكل الثقة بسبب «العاجل»</a:t>
                      </a:r>
                    </a:p>
                  </a:txBody>
                  <a:tcPr anchor="ctr" marL="50800" marR="50800" marT="25400" marB="25400">
                    <a:solidFill>
                      <a:srgbClr val="ECE7DD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274320" y="5806440"/>
            <a:ext cx="11643055" cy="73152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566855" y="5806440"/>
            <a:ext cx="76200" cy="73152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5861304"/>
            <a:ext cx="11185855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200" b="1">
                <a:solidFill>
                  <a:srgbClr val="B08D57"/>
                </a:solidFill>
                <a:latin typeface="Arial"/>
              </a:rPr>
              <a:t>القرار المطلوب</a:t>
            </a:r>
          </a:p>
          <a:p>
            <a:pPr rtl="1" algn="r"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اعتماد اتفاقيات مستوى خدمة داخلية (Internal SLAs) بين المشتريات وكل إدارة.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35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82735" y="164592"/>
            <a:ext cx="2926080" cy="82296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400" b="1">
                <a:solidFill>
                  <a:srgbClr val="B08D57"/>
                </a:solidFill>
                <a:latin typeface="Arial"/>
              </a:rPr>
              <a:t>مجموعة الذيابي للمقاولات</a:t>
            </a:r>
          </a:p>
          <a:p>
            <a:pPr rtl="1" algn="r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AL-DEYABI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46304"/>
            <a:ext cx="87782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مصفوفة المسؤوليات RACI لدورة الشراء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76656"/>
            <a:ext cx="87782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B08D57"/>
                </a:solidFill>
                <a:latin typeface="Arial"/>
              </a:rPr>
              <a:t>Governance — RACI Matrix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B6670"/>
                </a:solidFill>
                <a:latin typeface="Arial"/>
              </a:rPr>
              <a:t>7 / 16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463040"/>
          <a:ext cx="10728654" cy="3200400"/>
        </p:xfrm>
        <a:graphic>
          <a:graphicData uri="http://schemas.openxmlformats.org/drawingml/2006/table">
            <a:tbl rtl="1">
              <a:tblPr firstRow="1" bandRow="1" a:rtl="1">
                <a:tableStyleId>{5C22544A-7EE6-4342-B048-85BDC9FD1C3A}</a:tableStyleId>
              </a:tblPr>
              <a:tblGrid>
                <a:gridCol w="3284282"/>
                <a:gridCol w="1861093"/>
                <a:gridCol w="1861093"/>
                <a:gridCol w="1861093"/>
                <a:gridCol w="1861093"/>
              </a:tblGrid>
              <a:tr h="457200">
                <a:tc>
                  <a:txBody>
                    <a:bodyPr/>
                    <a:lstStyle/>
                    <a:p>
                      <a:pPr rtl="1"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النشاط</a:t>
                      </a:r>
                    </a:p>
                  </a:txBody>
                  <a:tcPr anchor="ctr" marL="50800" marR="50800" marT="25400" marB="25400">
                    <a:solidFill>
                      <a:srgbClr val="1F2A3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الإدارة الطالبة</a:t>
                      </a:r>
                    </a:p>
                  </a:txBody>
                  <a:tcPr anchor="ctr" marL="50800" marR="50800" marT="25400" marB="25400">
                    <a:solidFill>
                      <a:srgbClr val="1F2A3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المشتريات</a:t>
                      </a:r>
                    </a:p>
                  </a:txBody>
                  <a:tcPr anchor="ctr" marL="50800" marR="50800" marT="25400" marB="25400">
                    <a:solidFill>
                      <a:srgbClr val="1F2A3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المالية</a:t>
                      </a:r>
                    </a:p>
                  </a:txBody>
                  <a:tcPr anchor="ctr" marL="50800" marR="50800" marT="25400" marB="25400">
                    <a:solidFill>
                      <a:srgbClr val="1F2A3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المدير العام</a:t>
                      </a:r>
                    </a:p>
                  </a:txBody>
                  <a:tcPr anchor="ctr" marL="50800" marR="50800" marT="25400" marB="25400">
                    <a:solidFill>
                      <a:srgbClr val="1F2A3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/>
                      <a:r>
                        <a:rPr sz="1300" b="0">
                          <a:solidFill>
                            <a:srgbClr val="222A33"/>
                          </a:solidFill>
                          <a:latin typeface="Arial"/>
                        </a:rPr>
                        <a:t>رفع الاحتياج (PR)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</a:t>
                      </a:r>
                    </a:p>
                  </a:txBody>
                  <a:tcPr anchor="ctr" marL="50800" marR="50800" marT="25400" marB="25400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anchor="ctr" marL="50800" marR="50800" marT="25400" marB="25400">
                    <a:solidFill>
                      <a:srgbClr val="E08E0B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I</a:t>
                      </a:r>
                    </a:p>
                  </a:txBody>
                  <a:tcPr anchor="ctr" marL="50800" marR="50800" marT="25400" marB="25400">
                    <a:solidFill>
                      <a:srgbClr val="5B667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I</a:t>
                      </a:r>
                    </a:p>
                  </a:txBody>
                  <a:tcPr anchor="ctr" marL="50800" marR="50800" marT="25400" marB="25400">
                    <a:solidFill>
                      <a:srgbClr val="5B667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/>
                      <a:r>
                        <a:rPr sz="1300" b="0">
                          <a:solidFill>
                            <a:srgbClr val="222A33"/>
                          </a:solidFill>
                          <a:latin typeface="Arial"/>
                        </a:rPr>
                        <a:t>التسعير والمقارنة</a:t>
                      </a:r>
                    </a:p>
                  </a:txBody>
                  <a:tcPr anchor="ctr" marL="50800" marR="50800" marT="25400" marB="25400">
                    <a:solidFill>
                      <a:srgbClr val="ECE7D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I</a:t>
                      </a:r>
                    </a:p>
                  </a:txBody>
                  <a:tcPr anchor="ctr" marL="50800" marR="50800" marT="25400" marB="25400">
                    <a:solidFill>
                      <a:srgbClr val="5B667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</a:t>
                      </a:r>
                    </a:p>
                  </a:txBody>
                  <a:tcPr anchor="ctr" marL="50800" marR="50800" marT="25400" marB="25400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I</a:t>
                      </a:r>
                    </a:p>
                  </a:txBody>
                  <a:tcPr anchor="ctr" marL="50800" marR="50800" marT="25400" marB="25400">
                    <a:solidFill>
                      <a:srgbClr val="5B667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I</a:t>
                      </a:r>
                    </a:p>
                  </a:txBody>
                  <a:tcPr anchor="ctr" marL="50800" marR="50800" marT="25400" marB="25400">
                    <a:solidFill>
                      <a:srgbClr val="5B667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/>
                      <a:r>
                        <a:rPr sz="1300" b="0">
                          <a:solidFill>
                            <a:srgbClr val="222A33"/>
                          </a:solidFill>
                          <a:latin typeface="Arial"/>
                        </a:rPr>
                        <a:t>اعتماد القيمة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I</a:t>
                      </a:r>
                    </a:p>
                  </a:txBody>
                  <a:tcPr anchor="ctr" marL="50800" marR="50800" marT="25400" marB="25400">
                    <a:solidFill>
                      <a:srgbClr val="5B667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anchor="ctr" marL="50800" marR="50800" marT="25400" marB="25400">
                    <a:solidFill>
                      <a:srgbClr val="E08E0B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anchor="ctr" marL="50800" marR="50800" marT="25400" marB="25400"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anchor="ctr" marL="50800" marR="50800" marT="25400" marB="25400">
                    <a:solidFill>
                      <a:srgbClr val="C039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/>
                      <a:r>
                        <a:rPr sz="1300" b="0">
                          <a:solidFill>
                            <a:srgbClr val="222A33"/>
                          </a:solidFill>
                          <a:latin typeface="Arial"/>
                        </a:rPr>
                        <a:t>إصدار أمر الشراء (PO)</a:t>
                      </a:r>
                    </a:p>
                  </a:txBody>
                  <a:tcPr anchor="ctr" marL="50800" marR="50800" marT="25400" marB="25400">
                    <a:solidFill>
                      <a:srgbClr val="ECE7D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I</a:t>
                      </a:r>
                    </a:p>
                  </a:txBody>
                  <a:tcPr anchor="ctr" marL="50800" marR="50800" marT="25400" marB="25400">
                    <a:solidFill>
                      <a:srgbClr val="5B667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</a:t>
                      </a:r>
                    </a:p>
                  </a:txBody>
                  <a:tcPr anchor="ctr" marL="50800" marR="50800" marT="25400" marB="25400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I</a:t>
                      </a:r>
                    </a:p>
                  </a:txBody>
                  <a:tcPr anchor="ctr" marL="50800" marR="50800" marT="25400" marB="25400">
                    <a:solidFill>
                      <a:srgbClr val="5B667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I</a:t>
                      </a:r>
                    </a:p>
                  </a:txBody>
                  <a:tcPr anchor="ctr" marL="50800" marR="50800" marT="25400" marB="25400">
                    <a:solidFill>
                      <a:srgbClr val="5B667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/>
                      <a:r>
                        <a:rPr sz="1300" b="0">
                          <a:solidFill>
                            <a:srgbClr val="222A33"/>
                          </a:solidFill>
                          <a:latin typeface="Arial"/>
                        </a:rPr>
                        <a:t>التحويل المالي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I</a:t>
                      </a:r>
                    </a:p>
                  </a:txBody>
                  <a:tcPr anchor="ctr" marL="50800" marR="50800" marT="25400" marB="25400">
                    <a:solidFill>
                      <a:srgbClr val="5B667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anchor="ctr" marL="50800" marR="50800" marT="25400" marB="25400">
                    <a:solidFill>
                      <a:srgbClr val="E08E0B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</a:t>
                      </a:r>
                    </a:p>
                  </a:txBody>
                  <a:tcPr anchor="ctr" marL="50800" marR="50800" marT="25400" marB="25400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I</a:t>
                      </a:r>
                    </a:p>
                  </a:txBody>
                  <a:tcPr anchor="ctr" marL="50800" marR="50800" marT="25400" marB="25400">
                    <a:solidFill>
                      <a:srgbClr val="5B667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/>
                      <a:r>
                        <a:rPr sz="1300" b="0">
                          <a:solidFill>
                            <a:srgbClr val="222A33"/>
                          </a:solidFill>
                          <a:latin typeface="Arial"/>
                        </a:rPr>
                        <a:t>الاستلام والمطابقة</a:t>
                      </a:r>
                    </a:p>
                  </a:txBody>
                  <a:tcPr anchor="ctr" marL="50800" marR="50800" marT="25400" marB="25400">
                    <a:solidFill>
                      <a:srgbClr val="ECE7D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</a:t>
                      </a:r>
                    </a:p>
                  </a:txBody>
                  <a:tcPr anchor="ctr" marL="50800" marR="50800" marT="25400" marB="25400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anchor="ctr" marL="50800" marR="50800" marT="25400" marB="25400">
                    <a:solidFill>
                      <a:srgbClr val="E08E0B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I</a:t>
                      </a:r>
                    </a:p>
                  </a:txBody>
                  <a:tcPr anchor="ctr" marL="50800" marR="50800" marT="25400" marB="25400">
                    <a:solidFill>
                      <a:srgbClr val="5B667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I</a:t>
                      </a:r>
                    </a:p>
                  </a:txBody>
                  <a:tcPr anchor="ctr" marL="50800" marR="50800" marT="25400" marB="25400">
                    <a:solidFill>
                      <a:srgbClr val="5B6670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31520" y="4617720"/>
            <a:ext cx="10728655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300" b="0">
                <a:solidFill>
                  <a:srgbClr val="5B6670"/>
                </a:solidFill>
                <a:latin typeface="Arial"/>
              </a:rPr>
              <a:t>R = منفّذ   |   A = معتمِد   |   C = يُستشار   |   I = يُبلَّغ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5806440"/>
            <a:ext cx="11643055" cy="73152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566855" y="5806440"/>
            <a:ext cx="76200" cy="73152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5861304"/>
            <a:ext cx="11185855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200" b="1">
                <a:solidFill>
                  <a:srgbClr val="B08D57"/>
                </a:solidFill>
                <a:latin typeface="Arial"/>
              </a:rPr>
              <a:t>القرار المطلوب</a:t>
            </a:r>
          </a:p>
          <a:p>
            <a:pPr rtl="1" algn="r"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اعتماد مصفوفة RACI كمرجع إلزامي لجميع الإدارات.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35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82735" y="164592"/>
            <a:ext cx="2926080" cy="82296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400" b="1">
                <a:solidFill>
                  <a:srgbClr val="B08D57"/>
                </a:solidFill>
                <a:latin typeface="Arial"/>
              </a:rPr>
              <a:t>مجموعة الذيابي للمقاولات</a:t>
            </a:r>
          </a:p>
          <a:p>
            <a:pPr rtl="1" algn="r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AL-DEYABI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46304"/>
            <a:ext cx="87782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مسار الطلب الموحّد: من الاحتياج حتى الاستلام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76656"/>
            <a:ext cx="87782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B08D57"/>
                </a:solidFill>
                <a:latin typeface="Arial"/>
              </a:rPr>
              <a:t>Workflow 1 — Standard Procurement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B6670"/>
                </a:solidFill>
                <a:latin typeface="Arial"/>
              </a:rPr>
              <a:t>8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9814255" y="1554480"/>
            <a:ext cx="2103120" cy="91440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14255" y="1591056"/>
            <a:ext cx="2103120" cy="841248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نشوء الاحتياج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32391" y="1554480"/>
            <a:ext cx="281863" cy="9144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5B6670"/>
                </a:solidFill>
                <a:latin typeface="Arial"/>
              </a:rPr>
              <a:t>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29271" y="1554480"/>
            <a:ext cx="2103120" cy="91440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29271" y="1591056"/>
            <a:ext cx="2103120" cy="841248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رفع PR رسمي + مواصفات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47407" y="1554480"/>
            <a:ext cx="281863" cy="9144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5B6670"/>
                </a:solidFill>
                <a:latin typeface="Arial"/>
              </a:rPr>
              <a:t>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44287" y="1554480"/>
            <a:ext cx="2103120" cy="9144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4287" y="1591056"/>
            <a:ext cx="2103120" cy="841248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فحص المستودعات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2423" y="1554480"/>
            <a:ext cx="281863" cy="9144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5B6670"/>
                </a:solidFill>
                <a:latin typeface="Arial"/>
              </a:rPr>
              <a:t>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59303" y="1554480"/>
            <a:ext cx="2103120" cy="9144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59303" y="1591056"/>
            <a:ext cx="2103120" cy="841248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فحص سجل الأسعار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1554480"/>
            <a:ext cx="281863" cy="9144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5B6670"/>
                </a:solidFill>
                <a:latin typeface="Arial"/>
              </a:rPr>
              <a:t>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1554480"/>
            <a:ext cx="2103120" cy="91440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1591056"/>
            <a:ext cx="2103120" cy="841248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طلب عروض ومقارنة (3 عروض)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" y="2468880"/>
            <a:ext cx="2103120" cy="82296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5B6670"/>
                </a:solidFill>
                <a:latin typeface="Arial"/>
              </a:rPr>
              <a:t>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14255" y="3291840"/>
            <a:ext cx="2103120" cy="9144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14255" y="3328416"/>
            <a:ext cx="2103120" cy="841248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الاعتماد حسب مصفوفة الصلاحيات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32391" y="3291840"/>
            <a:ext cx="281863" cy="9144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5B6670"/>
                </a:solidFill>
                <a:latin typeface="Arial"/>
              </a:rPr>
              <a:t>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29271" y="3291840"/>
            <a:ext cx="2103120" cy="91440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29271" y="3328416"/>
            <a:ext cx="2103120" cy="841248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إصدار أمر الشراء (PO)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47407" y="3291840"/>
            <a:ext cx="281863" cy="9144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5B6670"/>
                </a:solidFill>
                <a:latin typeface="Arial"/>
              </a:rPr>
              <a:t>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44287" y="3291840"/>
            <a:ext cx="2103120" cy="91440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44287" y="3328416"/>
            <a:ext cx="2103120" cy="841248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التحويل المالي ضمن SLA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62423" y="3291840"/>
            <a:ext cx="281863" cy="9144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5B6670"/>
                </a:solidFill>
                <a:latin typeface="Arial"/>
              </a:rPr>
              <a:t>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59303" y="3291840"/>
            <a:ext cx="2103120" cy="91440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59303" y="3328416"/>
            <a:ext cx="2103120" cy="841248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التوريد والاستلام (3-Way Match)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77440" y="3291840"/>
            <a:ext cx="281863" cy="9144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5B6670"/>
                </a:solidFill>
                <a:latin typeface="Arial"/>
              </a:rPr>
              <a:t>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3291840"/>
            <a:ext cx="2103120" cy="91440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4320" y="3328416"/>
            <a:ext cx="2103120" cy="841248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إغلاق + تغذية سجل الأسعار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5806440"/>
            <a:ext cx="11643055" cy="73152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566855" y="5806440"/>
            <a:ext cx="76200" cy="73152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5861304"/>
            <a:ext cx="11185855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200" b="1">
                <a:solidFill>
                  <a:srgbClr val="B08D57"/>
                </a:solidFill>
                <a:latin typeface="Arial"/>
              </a:rPr>
              <a:t>القرار المطلوب</a:t>
            </a:r>
          </a:p>
          <a:p>
            <a:pPr rtl="1" algn="r"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اعتماد هذا المسار كالدورة الإلزامية الوحيدة؛ ومنع أي توريد خارجها بعد إصدار الـ PO.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35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82735" y="164592"/>
            <a:ext cx="2926080" cy="82296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400" b="1">
                <a:solidFill>
                  <a:srgbClr val="B08D57"/>
                </a:solidFill>
                <a:latin typeface="Arial"/>
              </a:rPr>
              <a:t>مجموعة الذيابي للمقاولات</a:t>
            </a:r>
          </a:p>
          <a:p>
            <a:pPr rtl="1" algn="r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AL-DEYABI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46304"/>
            <a:ext cx="87782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مسار الاعتماد والتعميد حسب القيمة (أرقام مقترحة)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76656"/>
            <a:ext cx="87782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B08D57"/>
                </a:solidFill>
                <a:latin typeface="Arial"/>
              </a:rPr>
              <a:t>Workflow 2 — Approval Matrix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B6670"/>
                </a:solidFill>
                <a:latin typeface="Arial"/>
              </a:rPr>
              <a:t>9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9579620" y="1600200"/>
            <a:ext cx="2200595" cy="5029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79620" y="1600200"/>
            <a:ext cx="2200595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الشريحة 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79620" y="2148840"/>
            <a:ext cx="2200595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7052" y="2240280"/>
            <a:ext cx="2145731" cy="228600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400" b="1">
                <a:solidFill>
                  <a:srgbClr val="1F2A37"/>
                </a:solidFill>
                <a:latin typeface="Arial"/>
              </a:rPr>
              <a:t>حتى 5,000 ر.س</a:t>
            </a:r>
          </a:p>
          <a:p>
            <a:pPr rtl="1" algn="ctr"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—</a:t>
            </a:r>
          </a:p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B08D57"/>
                </a:solidFill>
                <a:latin typeface="Arial"/>
              </a:rPr>
              <a:t>المعتمِد:</a:t>
            </a:r>
          </a:p>
          <a:p>
            <a:pPr rtl="1" algn="ctr">
              <a:spcAft>
                <a:spcPts val="300"/>
              </a:spcAft>
            </a:pPr>
            <a:r>
              <a:rPr sz="1300" b="0">
                <a:solidFill>
                  <a:srgbClr val="222A33"/>
                </a:solidFill>
                <a:latin typeface="Arial"/>
              </a:rPr>
              <a:t>مدير المشتريات</a:t>
            </a:r>
          </a:p>
          <a:p>
            <a:pPr rtl="1" algn="ctr"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—</a:t>
            </a:r>
          </a:p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B08D57"/>
                </a:solidFill>
                <a:latin typeface="Arial"/>
              </a:rPr>
              <a:t>الإجراء:</a:t>
            </a:r>
          </a:p>
          <a:p>
            <a:pPr rtl="1" algn="ctr">
              <a:spcAft>
                <a:spcPts val="300"/>
              </a:spcAft>
            </a:pPr>
            <a:r>
              <a:rPr sz="1300" b="0">
                <a:solidFill>
                  <a:srgbClr val="222A33"/>
                </a:solidFill>
                <a:latin typeface="Arial"/>
              </a:rPr>
              <a:t>بدون عروض (ضمن السقف)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87585" y="1600200"/>
            <a:ext cx="2200595" cy="5029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87585" y="1600200"/>
            <a:ext cx="2200595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الشريحة 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87585" y="2148840"/>
            <a:ext cx="2200595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017" y="2240280"/>
            <a:ext cx="2145731" cy="228600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400" b="1">
                <a:solidFill>
                  <a:srgbClr val="1F2A37"/>
                </a:solidFill>
                <a:latin typeface="Arial"/>
              </a:rPr>
              <a:t>حتى 25,000 ر.س</a:t>
            </a:r>
          </a:p>
          <a:p>
            <a:pPr rtl="1" algn="ctr"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—</a:t>
            </a:r>
          </a:p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B08D57"/>
                </a:solidFill>
                <a:latin typeface="Arial"/>
              </a:rPr>
              <a:t>المعتمِد:</a:t>
            </a:r>
          </a:p>
          <a:p>
            <a:pPr rtl="1" algn="ctr">
              <a:spcAft>
                <a:spcPts val="300"/>
              </a:spcAft>
            </a:pPr>
            <a:r>
              <a:rPr sz="1300" b="0">
                <a:solidFill>
                  <a:srgbClr val="222A33"/>
                </a:solidFill>
                <a:latin typeface="Arial"/>
              </a:rPr>
              <a:t>مدير المشتريات</a:t>
            </a:r>
          </a:p>
          <a:p>
            <a:pPr rtl="1" algn="ctr"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—</a:t>
            </a:r>
          </a:p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B08D57"/>
                </a:solidFill>
                <a:latin typeface="Arial"/>
              </a:rPr>
              <a:t>الإجراء:</a:t>
            </a:r>
          </a:p>
          <a:p>
            <a:pPr rtl="1" algn="ctr">
              <a:spcAft>
                <a:spcPts val="300"/>
              </a:spcAft>
            </a:pPr>
            <a:r>
              <a:rPr sz="1300" b="0">
                <a:solidFill>
                  <a:srgbClr val="222A33"/>
                </a:solidFill>
                <a:latin typeface="Arial"/>
              </a:rPr>
              <a:t>عرضان كحد أدنى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95550" y="1600200"/>
            <a:ext cx="2200595" cy="502920"/>
          </a:xfrm>
          <a:prstGeom prst="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95550" y="1600200"/>
            <a:ext cx="2200595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الشريحة 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95550" y="2148840"/>
            <a:ext cx="2200595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2982" y="2240280"/>
            <a:ext cx="2145731" cy="228600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400" b="1">
                <a:solidFill>
                  <a:srgbClr val="1F2A37"/>
                </a:solidFill>
                <a:latin typeface="Arial"/>
              </a:rPr>
              <a:t>حتى 100,000 ر.س</a:t>
            </a:r>
          </a:p>
          <a:p>
            <a:pPr rtl="1" algn="ctr"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—</a:t>
            </a:r>
          </a:p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B08D57"/>
                </a:solidFill>
                <a:latin typeface="Arial"/>
              </a:rPr>
              <a:t>المعتمِد:</a:t>
            </a:r>
          </a:p>
          <a:p>
            <a:pPr rtl="1" algn="ctr">
              <a:spcAft>
                <a:spcPts val="300"/>
              </a:spcAft>
            </a:pPr>
            <a:r>
              <a:rPr sz="1300" b="0">
                <a:solidFill>
                  <a:srgbClr val="222A33"/>
                </a:solidFill>
                <a:latin typeface="Arial"/>
              </a:rPr>
              <a:t>مشتريات + المالية</a:t>
            </a:r>
          </a:p>
          <a:p>
            <a:pPr rtl="1" algn="ctr"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—</a:t>
            </a:r>
          </a:p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B08D57"/>
                </a:solidFill>
                <a:latin typeface="Arial"/>
              </a:rPr>
              <a:t>الإجراء:</a:t>
            </a:r>
          </a:p>
          <a:p>
            <a:pPr rtl="1" algn="ctr">
              <a:spcAft>
                <a:spcPts val="300"/>
              </a:spcAft>
            </a:pPr>
            <a:r>
              <a:rPr sz="1300" b="0">
                <a:solidFill>
                  <a:srgbClr val="222A33"/>
                </a:solidFill>
                <a:latin typeface="Arial"/>
              </a:rPr>
              <a:t>ثلاثة عروض ومقارنة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03515" y="1600200"/>
            <a:ext cx="2200595" cy="5029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03515" y="1600200"/>
            <a:ext cx="2200595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الشريحة 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03515" y="2148840"/>
            <a:ext cx="2200595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30947" y="2240280"/>
            <a:ext cx="2145731" cy="228600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400" b="1">
                <a:solidFill>
                  <a:srgbClr val="1F2A37"/>
                </a:solidFill>
                <a:latin typeface="Arial"/>
              </a:rPr>
              <a:t>أكثر من 100,000</a:t>
            </a:r>
          </a:p>
          <a:p>
            <a:pPr rtl="1" algn="ctr"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—</a:t>
            </a:r>
          </a:p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B08D57"/>
                </a:solidFill>
                <a:latin typeface="Arial"/>
              </a:rPr>
              <a:t>المعتمِد:</a:t>
            </a:r>
          </a:p>
          <a:p>
            <a:pPr rtl="1" algn="ctr">
              <a:spcAft>
                <a:spcPts val="300"/>
              </a:spcAft>
            </a:pPr>
            <a:r>
              <a:rPr sz="1300" b="0">
                <a:solidFill>
                  <a:srgbClr val="222A33"/>
                </a:solidFill>
                <a:latin typeface="Arial"/>
              </a:rPr>
              <a:t>المدير العام + لجنة</a:t>
            </a:r>
          </a:p>
          <a:p>
            <a:pPr rtl="1" algn="ctr"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—</a:t>
            </a:r>
          </a:p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B08D57"/>
                </a:solidFill>
                <a:latin typeface="Arial"/>
              </a:rPr>
              <a:t>الإجراء:</a:t>
            </a:r>
          </a:p>
          <a:p>
            <a:pPr rtl="1" algn="ctr">
              <a:spcAft>
                <a:spcPts val="300"/>
              </a:spcAft>
            </a:pPr>
            <a:r>
              <a:rPr sz="1300" b="0">
                <a:solidFill>
                  <a:srgbClr val="222A33"/>
                </a:solidFill>
                <a:latin typeface="Arial"/>
              </a:rPr>
              <a:t>ثلاثة عروض + تفاوض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1600200"/>
            <a:ext cx="2200595" cy="50292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1600200"/>
            <a:ext cx="2200595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Fast-Track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2148840"/>
            <a:ext cx="2200595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" y="2240280"/>
            <a:ext cx="2145731" cy="228600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400" b="1">
                <a:solidFill>
                  <a:srgbClr val="1F2A37"/>
                </a:solidFill>
                <a:latin typeface="Arial"/>
              </a:rPr>
              <a:t>طوارئ فعلية</a:t>
            </a:r>
          </a:p>
          <a:p>
            <a:pPr rtl="1" algn="ctr"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—</a:t>
            </a:r>
          </a:p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B08D57"/>
                </a:solidFill>
                <a:latin typeface="Arial"/>
              </a:rPr>
              <a:t>المعتمِد:</a:t>
            </a:r>
          </a:p>
          <a:p>
            <a:pPr rtl="1" algn="ctr">
              <a:spcAft>
                <a:spcPts val="300"/>
              </a:spcAft>
            </a:pPr>
            <a:r>
              <a:rPr sz="1300" b="0">
                <a:solidFill>
                  <a:srgbClr val="222A33"/>
                </a:solidFill>
                <a:latin typeface="Arial"/>
              </a:rPr>
              <a:t>موافقة مسبقة موثّقة</a:t>
            </a:r>
          </a:p>
          <a:p>
            <a:pPr rtl="1" algn="ctr"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—</a:t>
            </a:r>
          </a:p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B08D57"/>
                </a:solidFill>
                <a:latin typeface="Arial"/>
              </a:rPr>
              <a:t>الإجراء:</a:t>
            </a:r>
          </a:p>
          <a:p>
            <a:pPr rtl="1" algn="ctr">
              <a:spcAft>
                <a:spcPts val="300"/>
              </a:spcAft>
            </a:pPr>
            <a:r>
              <a:rPr sz="1300" b="0">
                <a:solidFill>
                  <a:srgbClr val="222A33"/>
                </a:solidFill>
                <a:latin typeface="Arial"/>
              </a:rPr>
              <a:t>سقف محدد + تبرير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297680"/>
            <a:ext cx="11460175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400" b="1">
                <a:solidFill>
                  <a:srgbClr val="1F2A37"/>
                </a:solidFill>
                <a:latin typeface="Arial"/>
              </a:rPr>
              <a:t>كل اعتماد ← إصدار PO بختم موثّق ← أرشفة في سجل الاعتمادات (Audit Trail)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5806440"/>
            <a:ext cx="11643055" cy="73152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566855" y="5806440"/>
            <a:ext cx="76200" cy="73152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5861304"/>
            <a:ext cx="11185855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200" b="1">
                <a:solidFill>
                  <a:srgbClr val="B08D57"/>
                </a:solidFill>
                <a:latin typeface="Arial"/>
              </a:rPr>
              <a:t>القرار المطلوب</a:t>
            </a:r>
          </a:p>
          <a:p>
            <a:pPr rtl="1" algn="r"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اعتماد قيم الشرائح (قابلة للتعديل) وربط Fast-Track بموافقة مسبقة موثّقة فقط — لإنهاء فوضى «العاجل».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35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82735" y="164592"/>
            <a:ext cx="2926080" cy="82296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400" b="1">
                <a:solidFill>
                  <a:srgbClr val="B08D57"/>
                </a:solidFill>
                <a:latin typeface="Arial"/>
              </a:rPr>
              <a:t>مجموعة الذيابي للمقاولات</a:t>
            </a:r>
          </a:p>
          <a:p>
            <a:pPr rtl="1" algn="r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AL-DEYABI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46304"/>
            <a:ext cx="87782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معالجة اختناق المالية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76656"/>
            <a:ext cx="87782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B08D57"/>
                </a:solidFill>
                <a:latin typeface="Arial"/>
              </a:rPr>
              <a:t>Finance Bottleneck &amp; SLA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B6670"/>
                </a:solidFill>
                <a:latin typeface="Arial"/>
              </a:rPr>
              <a:t>10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  <a:latin typeface="Arial"/>
              </a:rPr>
              <a:t>بطء التحويل المالي = اختناق (Bottleneck) يُبطل كفاءة كل المراحل السابقة، ويُنسب التأخير ظلماً للمشتريات أمام الموردين.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86000"/>
            <a:ext cx="5547207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64327" y="2286000"/>
            <a:ext cx="640080" cy="9144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4327" y="2286000"/>
            <a:ext cx="640080" cy="9144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359152"/>
            <a:ext cx="4815687" cy="77724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500" b="1">
                <a:solidFill>
                  <a:srgbClr val="1F2A37"/>
                </a:solidFill>
                <a:latin typeface="Arial"/>
              </a:rPr>
              <a:t>اتفاقية مستوى خدمة (Finance SLA)</a:t>
            </a:r>
          </a:p>
          <a:p>
            <a:pPr rtl="1" algn="r">
              <a:spcAft>
                <a:spcPts val="300"/>
              </a:spcAft>
            </a:pPr>
            <a:r>
              <a:rPr sz="1200" b="0">
                <a:solidFill>
                  <a:srgbClr val="5B6670"/>
                </a:solidFill>
                <a:latin typeface="Arial"/>
              </a:rPr>
              <a:t>سقف ملزم: 3–5 أيام عمل اعتيادي / 24 ساعة للطوارئ المعتمدة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2286000"/>
            <a:ext cx="5547207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140135" y="2286000"/>
            <a:ext cx="640080" cy="9144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40135" y="2286000"/>
            <a:ext cx="640080" cy="9144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4447" y="2359152"/>
            <a:ext cx="4815687" cy="77724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500" b="1">
                <a:solidFill>
                  <a:srgbClr val="1F2A37"/>
                </a:solidFill>
                <a:latin typeface="Arial"/>
              </a:rPr>
              <a:t>الدفعات المجمّعة (Batch Runs)</a:t>
            </a:r>
          </a:p>
          <a:p>
            <a:pPr rtl="1" algn="r">
              <a:spcAft>
                <a:spcPts val="300"/>
              </a:spcAft>
            </a:pPr>
            <a:r>
              <a:rPr sz="1200" b="0">
                <a:solidFill>
                  <a:srgbClr val="5B6670"/>
                </a:solidFill>
                <a:latin typeface="Arial"/>
              </a:rPr>
              <a:t>دورتا صرف أسبوعيتان ثابتتان بدل المعالجة الفردية العشوائية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83280"/>
            <a:ext cx="5547207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64327" y="3383280"/>
            <a:ext cx="640080" cy="9144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64327" y="3383280"/>
            <a:ext cx="640080" cy="9144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456432"/>
            <a:ext cx="4815687" cy="77724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500" b="1">
                <a:solidFill>
                  <a:srgbClr val="1F2A37"/>
                </a:solidFill>
                <a:latin typeface="Arial"/>
              </a:rPr>
              <a:t>مسار الطوارئ المحكوم (Fast-Track)</a:t>
            </a:r>
          </a:p>
          <a:p>
            <a:pPr rtl="1" algn="r">
              <a:spcAft>
                <a:spcPts val="300"/>
              </a:spcAft>
            </a:pPr>
            <a:r>
              <a:rPr sz="1200" b="0">
                <a:solidFill>
                  <a:srgbClr val="5B6670"/>
                </a:solidFill>
                <a:latin typeface="Arial"/>
              </a:rPr>
              <a:t>قناة سريعة للحالات الحرجة فقط بموافقة مسبقة وسقف محدد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3383280"/>
            <a:ext cx="5547207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140135" y="3383280"/>
            <a:ext cx="640080" cy="9144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40135" y="3383280"/>
            <a:ext cx="640080" cy="91440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4447" y="3456432"/>
            <a:ext cx="4815687" cy="77724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500" b="1">
                <a:solidFill>
                  <a:srgbClr val="1F2A37"/>
                </a:solidFill>
                <a:latin typeface="Arial"/>
              </a:rPr>
              <a:t>تنبيهات وتصعيد تلقائي (Auto-Escalation)</a:t>
            </a:r>
          </a:p>
          <a:p>
            <a:pPr rtl="1" algn="r">
              <a:spcAft>
                <a:spcPts val="300"/>
              </a:spcAft>
            </a:pPr>
            <a:r>
              <a:rPr sz="1200" b="0">
                <a:solidFill>
                  <a:srgbClr val="5B6670"/>
                </a:solidFill>
                <a:latin typeface="Arial"/>
              </a:rPr>
              <a:t>تنبيه عند تجاوز SLA + لوحة متابعة المعلّقات (Aging Dashboard)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806440"/>
            <a:ext cx="11643055" cy="73152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566855" y="5806440"/>
            <a:ext cx="76200" cy="73152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5861304"/>
            <a:ext cx="11185855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200" b="1">
                <a:solidFill>
                  <a:srgbClr val="B08D57"/>
                </a:solidFill>
                <a:latin typeface="Arial"/>
              </a:rPr>
              <a:t>القرار المطلوب</a:t>
            </a:r>
          </a:p>
          <a:p>
            <a:pPr rtl="1" algn="r"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الاعتراف بزمن التحويل كمؤشر مشترك (Shared KPI)؛ اعتماد (1) و(2) فوراً و(3) و(4) خلال 90 يوماً.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35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82735" y="164592"/>
            <a:ext cx="2926080" cy="82296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400" b="1">
                <a:solidFill>
                  <a:srgbClr val="B08D57"/>
                </a:solidFill>
                <a:latin typeface="Arial"/>
              </a:rPr>
              <a:t>مجموعة الذيابي للمقاولات</a:t>
            </a:r>
          </a:p>
          <a:p>
            <a:pPr rtl="1" algn="r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AL-DEYABI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46304"/>
            <a:ext cx="87782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خارطة طريق المأسسة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76656"/>
            <a:ext cx="87782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B08D57"/>
                </a:solidFill>
                <a:latin typeface="Arial"/>
              </a:rPr>
              <a:t>Institutionalization 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B6670"/>
                </a:solidFill>
                <a:latin typeface="Arial"/>
              </a:rPr>
              <a:t>11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63040"/>
            <a:ext cx="3759098" cy="8229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17904"/>
            <a:ext cx="3759098" cy="73152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rtl="1"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أول 30 يوماً</a:t>
            </a:r>
          </a:p>
          <a:p>
            <a:pPr rtl="1" algn="ctr">
              <a:spcAft>
                <a:spcPts val="200"/>
              </a:spcAft>
            </a:pPr>
            <a:r>
              <a:rPr sz="1200" b="0">
                <a:solidFill>
                  <a:srgbClr val="F4F1EA"/>
                </a:solidFill>
                <a:latin typeface="Arial"/>
              </a:rPr>
              <a:t>Quick Wins — تثبيت الحوكمة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331720"/>
            <a:ext cx="375909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468880"/>
            <a:ext cx="357621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400"/>
              </a:spcAft>
            </a:pPr>
            <a:r>
              <a:rPr sz="1400" b="0">
                <a:solidFill>
                  <a:srgbClr val="222A33"/>
                </a:solidFill>
                <a:latin typeface="Arial"/>
              </a:rPr>
              <a:t>•  القناة الموحّدة للطلبات (PR رسمي إلزامي)</a:t>
            </a:r>
          </a:p>
          <a:p>
            <a:pPr rtl="1" algn="r">
              <a:spcAft>
                <a:spcPts val="1400"/>
              </a:spcAft>
            </a:pPr>
            <a:r>
              <a:rPr sz="1400" b="0">
                <a:solidFill>
                  <a:srgbClr val="222A33"/>
                </a:solidFill>
                <a:latin typeface="Arial"/>
              </a:rPr>
              <a:t>•  إصدار مصفوفة الصلاحيات بقيمها</a:t>
            </a:r>
          </a:p>
          <a:p>
            <a:pPr rtl="1" algn="r">
              <a:spcAft>
                <a:spcPts val="1400"/>
              </a:spcAft>
            </a:pPr>
            <a:r>
              <a:rPr sz="1400" b="0">
                <a:solidFill>
                  <a:srgbClr val="222A33"/>
                </a:solidFill>
                <a:latin typeface="Arial"/>
              </a:rPr>
              <a:t>•  توقيع Finance SLA</a:t>
            </a:r>
          </a:p>
          <a:p>
            <a:pPr rtl="1" algn="r">
              <a:spcAft>
                <a:spcPts val="1400"/>
              </a:spcAft>
            </a:pPr>
            <a:r>
              <a:rPr sz="1400" b="0">
                <a:solidFill>
                  <a:srgbClr val="222A33"/>
                </a:solidFill>
                <a:latin typeface="Arial"/>
              </a:rPr>
              <a:t>•  وقف الشراء المباشر رسمياً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16298" y="1463040"/>
            <a:ext cx="3759098" cy="822960"/>
          </a:xfrm>
          <a:prstGeom prst="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16298" y="1517904"/>
            <a:ext cx="3759098" cy="73152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rtl="1"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حتى 90 يوماً</a:t>
            </a:r>
          </a:p>
          <a:p>
            <a:pPr rtl="1" algn="ctr">
              <a:spcAft>
                <a:spcPts val="200"/>
              </a:spcAft>
            </a:pPr>
            <a:r>
              <a:rPr sz="1200" b="0">
                <a:solidFill>
                  <a:srgbClr val="F4F1EA"/>
                </a:solidFill>
                <a:latin typeface="Arial"/>
              </a:rPr>
              <a:t>البناء المؤسسي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16298" y="2331720"/>
            <a:ext cx="375909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07738" y="2468880"/>
            <a:ext cx="357621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400"/>
              </a:spcAft>
            </a:pPr>
            <a:r>
              <a:rPr sz="1400" b="0">
                <a:solidFill>
                  <a:srgbClr val="222A33"/>
                </a:solidFill>
                <a:latin typeface="Arial"/>
              </a:rPr>
              <a:t>•  إطلاق سجل الأسعار (Price Master) من المالية</a:t>
            </a:r>
          </a:p>
          <a:p>
            <a:pPr rtl="1" algn="r">
              <a:spcAft>
                <a:spcPts val="1400"/>
              </a:spcAft>
            </a:pPr>
            <a:r>
              <a:rPr sz="1400" b="0">
                <a:solidFill>
                  <a:srgbClr val="222A33"/>
                </a:solidFill>
                <a:latin typeface="Arial"/>
              </a:rPr>
              <a:t>•  قاعدة موردين + عقود إطارية للمتكرر</a:t>
            </a:r>
          </a:p>
          <a:p>
            <a:pPr rtl="1" algn="r">
              <a:spcAft>
                <a:spcPts val="1400"/>
              </a:spcAft>
            </a:pPr>
            <a:r>
              <a:rPr sz="1400" b="0">
                <a:solidFill>
                  <a:srgbClr val="222A33"/>
                </a:solidFill>
                <a:latin typeface="Arial"/>
              </a:rPr>
              <a:t>•  مسار الطوارئ + لوحة المعلّقات</a:t>
            </a:r>
          </a:p>
          <a:p>
            <a:pPr rtl="1" algn="r">
              <a:spcAft>
                <a:spcPts val="1400"/>
              </a:spcAft>
            </a:pPr>
            <a:r>
              <a:rPr sz="1400" b="0">
                <a:solidFill>
                  <a:srgbClr val="222A33"/>
                </a:solidFill>
                <a:latin typeface="Arial"/>
              </a:rPr>
              <a:t>•  معالجة عهدة قصر الياسمين والبنية التحتية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66836" y="1463040"/>
            <a:ext cx="3759098" cy="82296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66836" y="1517904"/>
            <a:ext cx="3759098" cy="73152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rtl="1"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المدى البعيد</a:t>
            </a:r>
          </a:p>
          <a:p>
            <a:pPr rtl="1" algn="ctr">
              <a:spcAft>
                <a:spcPts val="200"/>
              </a:spcAft>
            </a:pPr>
            <a:r>
              <a:rPr sz="1200" b="0">
                <a:solidFill>
                  <a:srgbClr val="F4F1EA"/>
                </a:solidFill>
                <a:latin typeface="Arial"/>
              </a:rPr>
              <a:t>التحول الرقمي والتميّز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66836" y="2331720"/>
            <a:ext cx="375909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8276" y="2468880"/>
            <a:ext cx="357621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400"/>
              </a:spcAft>
            </a:pPr>
            <a:r>
              <a:rPr sz="1400" b="0">
                <a:solidFill>
                  <a:srgbClr val="222A33"/>
                </a:solidFill>
                <a:latin typeface="Arial"/>
              </a:rPr>
              <a:t>•  نظام e-Procurement متكامل</a:t>
            </a:r>
          </a:p>
          <a:p>
            <a:pPr rtl="1" algn="r">
              <a:spcAft>
                <a:spcPts val="1400"/>
              </a:spcAft>
            </a:pPr>
            <a:r>
              <a:rPr sz="1400" b="0">
                <a:solidFill>
                  <a:srgbClr val="222A33"/>
                </a:solidFill>
                <a:latin typeface="Arial"/>
              </a:rPr>
              <a:t>•  لوحات KPI آنية</a:t>
            </a:r>
          </a:p>
          <a:p>
            <a:pPr rtl="1" algn="r">
              <a:spcAft>
                <a:spcPts val="1400"/>
              </a:spcAft>
            </a:pPr>
            <a:r>
              <a:rPr sz="1400" b="0">
                <a:solidFill>
                  <a:srgbClr val="222A33"/>
                </a:solidFill>
                <a:latin typeface="Arial"/>
              </a:rPr>
              <a:t>•  تقييم موردين (Vendor Scorecard)</a:t>
            </a:r>
          </a:p>
          <a:p>
            <a:pPr rtl="1" algn="r">
              <a:spcAft>
                <a:spcPts val="1400"/>
              </a:spcAft>
            </a:pPr>
            <a:r>
              <a:rPr sz="1400" b="0">
                <a:solidFill>
                  <a:srgbClr val="222A33"/>
                </a:solidFill>
                <a:latin typeface="Arial"/>
              </a:rPr>
              <a:t>•  استراتيجية مصادر (Sourcing)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5806440"/>
            <a:ext cx="11643055" cy="73152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566855" y="5806440"/>
            <a:ext cx="76200" cy="73152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861304"/>
            <a:ext cx="11185855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200" b="1">
                <a:solidFill>
                  <a:srgbClr val="B08D57"/>
                </a:solidFill>
                <a:latin typeface="Arial"/>
              </a:rPr>
              <a:t>القرار المطلوب</a:t>
            </a:r>
          </a:p>
          <a:p>
            <a:pPr rtl="1" algn="r"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المصادقة على خارطة الطريق الزمنية وتكليف لجنة تنفيذية بمتابعة الإنجاز.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35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82735" y="164592"/>
            <a:ext cx="2926080" cy="82296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400" b="1">
                <a:solidFill>
                  <a:srgbClr val="B08D57"/>
                </a:solidFill>
                <a:latin typeface="Arial"/>
              </a:rPr>
              <a:t>مجموعة الذيابي للمقاولات</a:t>
            </a:r>
          </a:p>
          <a:p>
            <a:pPr rtl="1" algn="r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AL-DEYABI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46304"/>
            <a:ext cx="87782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مؤشرات القياس — ما لا يُقاس لا يُدار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76656"/>
            <a:ext cx="87782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B08D57"/>
                </a:solidFill>
                <a:latin typeface="Arial"/>
              </a:rPr>
              <a:t>KPIs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B6670"/>
                </a:solidFill>
                <a:latin typeface="Arial"/>
              </a:rPr>
              <a:t>12 / 16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63040"/>
          <a:ext cx="11277294" cy="3657600"/>
        </p:xfrm>
        <a:graphic>
          <a:graphicData uri="http://schemas.openxmlformats.org/drawingml/2006/table">
            <a:tbl rtl="1">
              <a:tblPr firstRow="1" bandRow="1" a:rtl="1">
                <a:tableStyleId>{5C22544A-7EE6-4342-B048-85BDC9FD1C3A}</a:tableStyleId>
              </a:tblPr>
              <a:tblGrid>
                <a:gridCol w="3759098"/>
                <a:gridCol w="5012131"/>
                <a:gridCol w="2506065"/>
              </a:tblGrid>
              <a:tr h="457200">
                <a:tc>
                  <a:txBody>
                    <a:bodyPr/>
                    <a:lstStyle/>
                    <a:p>
                      <a:pPr rtl="1"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المؤشر (KPI)</a:t>
                      </a:r>
                    </a:p>
                  </a:txBody>
                  <a:tcPr anchor="ctr" marL="50800" marR="50800" marT="25400" marB="25400">
                    <a:solidFill>
                      <a:srgbClr val="1F2A3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التعريف</a:t>
                      </a:r>
                    </a:p>
                  </a:txBody>
                  <a:tcPr anchor="ctr" marL="50800" marR="50800" marT="25400" marB="25400">
                    <a:solidFill>
                      <a:srgbClr val="1F2A3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المستهدف المقترح</a:t>
                      </a:r>
                    </a:p>
                  </a:txBody>
                  <a:tcPr anchor="ctr" marL="50800" marR="50800" marT="25400" marB="25400">
                    <a:solidFill>
                      <a:srgbClr val="1F2A3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/>
                      <a:r>
                        <a:rPr sz="1300" b="0">
                          <a:solidFill>
                            <a:srgbClr val="222A33"/>
                          </a:solidFill>
                          <a:latin typeface="Arial"/>
                        </a:rPr>
                        <a:t>زمن دورة الشراء (Cycle Time)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0">
                          <a:solidFill>
                            <a:srgbClr val="222A33"/>
                          </a:solidFill>
                          <a:latin typeface="Arial"/>
                        </a:rPr>
                        <a:t>من PR إلى PO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2E7D32"/>
                          </a:solidFill>
                          <a:latin typeface="Arial"/>
                        </a:rPr>
                        <a:t>تخفيض 30%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/>
                      <a:r>
                        <a:rPr sz="1300" b="0">
                          <a:solidFill>
                            <a:srgbClr val="222A33"/>
                          </a:solidFill>
                          <a:latin typeface="Arial"/>
                        </a:rPr>
                        <a:t>التزام القناة (Channel Compliance)</a:t>
                      </a:r>
                    </a:p>
                  </a:txBody>
                  <a:tcPr anchor="ctr" marL="50800" marR="50800" marT="25400" marB="25400">
                    <a:solidFill>
                      <a:srgbClr val="ECE7D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0">
                          <a:solidFill>
                            <a:srgbClr val="222A33"/>
                          </a:solidFill>
                          <a:latin typeface="Arial"/>
                        </a:rPr>
                        <a:t>نسبة الطلبات عبر الدورة الرسمية</a:t>
                      </a:r>
                    </a:p>
                  </a:txBody>
                  <a:tcPr anchor="ctr" marL="50800" marR="50800" marT="25400" marB="25400">
                    <a:solidFill>
                      <a:srgbClr val="ECE7D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2E7D32"/>
                          </a:solidFill>
                          <a:latin typeface="Arial"/>
                        </a:rPr>
                        <a:t>≥ 95%</a:t>
                      </a:r>
                    </a:p>
                  </a:txBody>
                  <a:tcPr anchor="ctr" marL="50800" marR="50800" marT="25400" marB="25400">
                    <a:solidFill>
                      <a:srgbClr val="ECE7D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/>
                      <a:r>
                        <a:rPr sz="1300" b="0">
                          <a:solidFill>
                            <a:srgbClr val="222A33"/>
                          </a:solidFill>
                          <a:latin typeface="Arial"/>
                        </a:rPr>
                        <a:t>الوفر المحقّق (Realized Savings)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0">
                          <a:solidFill>
                            <a:srgbClr val="222A33"/>
                          </a:solidFill>
                          <a:latin typeface="Arial"/>
                        </a:rPr>
                        <a:t>فرق السعر مقابل المرجع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0">
                          <a:solidFill>
                            <a:srgbClr val="222A33"/>
                          </a:solidFill>
                          <a:latin typeface="Arial"/>
                        </a:rPr>
                        <a:t>يُقاس ربع سنوياً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/>
                      <a:r>
                        <a:rPr sz="1300" b="0">
                          <a:solidFill>
                            <a:srgbClr val="222A33"/>
                          </a:solidFill>
                          <a:latin typeface="Arial"/>
                        </a:rPr>
                        <a:t>التزام SLA المالية</a:t>
                      </a:r>
                    </a:p>
                  </a:txBody>
                  <a:tcPr anchor="ctr" marL="50800" marR="50800" marT="25400" marB="25400">
                    <a:solidFill>
                      <a:srgbClr val="ECE7D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0">
                          <a:solidFill>
                            <a:srgbClr val="222A33"/>
                          </a:solidFill>
                          <a:latin typeface="Arial"/>
                        </a:rPr>
                        <a:t>نسبة التحويلات ضمن المهلة</a:t>
                      </a:r>
                    </a:p>
                  </a:txBody>
                  <a:tcPr anchor="ctr" marL="50800" marR="50800" marT="25400" marB="25400">
                    <a:solidFill>
                      <a:srgbClr val="ECE7D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2E7D32"/>
                          </a:solidFill>
                          <a:latin typeface="Arial"/>
                        </a:rPr>
                        <a:t>≥ 90%</a:t>
                      </a:r>
                    </a:p>
                  </a:txBody>
                  <a:tcPr anchor="ctr" marL="50800" marR="50800" marT="25400" marB="25400">
                    <a:solidFill>
                      <a:srgbClr val="ECE7D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/>
                      <a:r>
                        <a:rPr sz="1300" b="0">
                          <a:solidFill>
                            <a:srgbClr val="222A33"/>
                          </a:solidFill>
                          <a:latin typeface="Arial"/>
                        </a:rPr>
                        <a:t>الطلبات المعلّقة (Aging PRs)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0">
                          <a:solidFill>
                            <a:srgbClr val="222A33"/>
                          </a:solidFill>
                          <a:latin typeface="Arial"/>
                        </a:rPr>
                        <a:t>طلبات تجاوزت المهلة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C0392B"/>
                          </a:solidFill>
                          <a:latin typeface="Arial"/>
                        </a:rPr>
                        <a:t>← الصفر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/>
                      <a:r>
                        <a:rPr sz="1300" b="0">
                          <a:solidFill>
                            <a:srgbClr val="222A33"/>
                          </a:solidFill>
                          <a:latin typeface="Arial"/>
                        </a:rPr>
                        <a:t>موثوقية الموردين (Responsiveness)</a:t>
                      </a:r>
                    </a:p>
                  </a:txBody>
                  <a:tcPr anchor="ctr" marL="50800" marR="50800" marT="25400" marB="25400">
                    <a:solidFill>
                      <a:srgbClr val="ECE7D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0">
                          <a:solidFill>
                            <a:srgbClr val="222A33"/>
                          </a:solidFill>
                          <a:latin typeface="Arial"/>
                        </a:rPr>
                        <a:t>نسبة الاستجابة للعروض</a:t>
                      </a:r>
                    </a:p>
                  </a:txBody>
                  <a:tcPr anchor="ctr" marL="50800" marR="50800" marT="25400" marB="25400">
                    <a:solidFill>
                      <a:srgbClr val="ECE7D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0">
                          <a:solidFill>
                            <a:srgbClr val="222A33"/>
                          </a:solidFill>
                          <a:latin typeface="Arial"/>
                        </a:rPr>
                        <a:t>اتجاه تصاعدي</a:t>
                      </a:r>
                    </a:p>
                  </a:txBody>
                  <a:tcPr anchor="ctr" marL="50800" marR="50800" marT="25400" marB="25400">
                    <a:solidFill>
                      <a:srgbClr val="ECE7D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/>
                      <a:r>
                        <a:rPr sz="1300" b="0">
                          <a:solidFill>
                            <a:srgbClr val="222A33"/>
                          </a:solidFill>
                          <a:latin typeface="Arial"/>
                        </a:rPr>
                        <a:t>دقة الطلب (PR Accuracy)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0">
                          <a:solidFill>
                            <a:srgbClr val="222A33"/>
                          </a:solidFill>
                          <a:latin typeface="Arial"/>
                        </a:rPr>
                        <a:t>طلبات مكتملة المواصفات أول مرة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2E7D32"/>
                          </a:solidFill>
                          <a:latin typeface="Arial"/>
                        </a:rPr>
                        <a:t>≥ 90%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274320" y="5806440"/>
            <a:ext cx="11643055" cy="73152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566855" y="5806440"/>
            <a:ext cx="76200" cy="73152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5861304"/>
            <a:ext cx="11185855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200" b="1">
                <a:solidFill>
                  <a:srgbClr val="B08D57"/>
                </a:solidFill>
                <a:latin typeface="Arial"/>
              </a:rPr>
              <a:t>القرار المطلوب</a:t>
            </a:r>
          </a:p>
          <a:p>
            <a:pPr rtl="1" algn="r"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اعتماد هذه المؤشرات ضمن تقرير أداء ربع سنوي يُرفع للإدارة العليا.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35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82735" y="164592"/>
            <a:ext cx="2926080" cy="82296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400" b="1">
                <a:solidFill>
                  <a:srgbClr val="B08D57"/>
                </a:solidFill>
                <a:latin typeface="Arial"/>
              </a:rPr>
              <a:t>مجموعة الذيابي للمقاولات</a:t>
            </a:r>
          </a:p>
          <a:p>
            <a:pPr rtl="1" algn="r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AL-DEYABI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46304"/>
            <a:ext cx="87782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القرارات السبعة المطلوبة من الإدارة العليا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76656"/>
            <a:ext cx="87782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B08D57"/>
                </a:solidFill>
                <a:latin typeface="Arial"/>
              </a:rPr>
              <a:t>The Ask — Executive Decisions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B6670"/>
                </a:solidFill>
                <a:latin typeface="Arial"/>
              </a:rPr>
              <a:t>13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5547207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55767" y="1554480"/>
            <a:ext cx="548640" cy="6400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55767" y="1554480"/>
            <a:ext cx="54864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554480"/>
            <a:ext cx="4861407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1F2A37"/>
                </a:solidFill>
                <a:latin typeface="Arial"/>
              </a:rPr>
              <a:t>اعتماد مبدأ القناة الموحّدة الإلزامية للمشتريات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1554480"/>
            <a:ext cx="5547207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31575" y="1554480"/>
            <a:ext cx="548640" cy="6400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231575" y="1554480"/>
            <a:ext cx="54864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447" y="1554480"/>
            <a:ext cx="4861407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1F2A37"/>
                </a:solidFill>
                <a:latin typeface="Arial"/>
              </a:rPr>
              <a:t>إقرار مصفوفة الصلاحيات (Approval Matrix) بقيمها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331720"/>
            <a:ext cx="5547207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55767" y="2331720"/>
            <a:ext cx="548640" cy="6400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55767" y="2331720"/>
            <a:ext cx="54864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331720"/>
            <a:ext cx="4861407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1F2A37"/>
                </a:solidFill>
                <a:latin typeface="Arial"/>
              </a:rPr>
              <a:t>توقيع Finance SLA لزمن التحويل المالي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3007" y="2331720"/>
            <a:ext cx="5547207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231575" y="2331720"/>
            <a:ext cx="548640" cy="6400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231575" y="2331720"/>
            <a:ext cx="54864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4447" y="2331720"/>
            <a:ext cx="4861407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1F2A37"/>
                </a:solidFill>
                <a:latin typeface="Arial"/>
              </a:rPr>
              <a:t>اعتماد سجل الأسعار المرجعي المُغذّى من المالية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108960"/>
            <a:ext cx="5547207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55767" y="3108960"/>
            <a:ext cx="548640" cy="6400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55767" y="3108960"/>
            <a:ext cx="54864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108960"/>
            <a:ext cx="4861407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1F2A37"/>
                </a:solidFill>
                <a:latin typeface="Arial"/>
              </a:rPr>
              <a:t>تفويض إبرام عقود إطارية للطلبات المتكررة والبنية التحتية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33007" y="3108960"/>
            <a:ext cx="5547207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231575" y="3108960"/>
            <a:ext cx="548640" cy="6400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231575" y="3108960"/>
            <a:ext cx="54864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24447" y="3108960"/>
            <a:ext cx="4861407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1F2A37"/>
                </a:solidFill>
                <a:latin typeface="Arial"/>
              </a:rPr>
              <a:t>معالجة عهدة قصر الياسمين بنقلها لمسؤول المشروع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17520" y="3886200"/>
            <a:ext cx="6156655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625535" y="3886200"/>
            <a:ext cx="548640" cy="6400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25535" y="3886200"/>
            <a:ext cx="54864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08960" y="3886200"/>
            <a:ext cx="5470855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101600" rIns="101600" tIns="50800" bIns="508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1F2A37"/>
                </a:solidFill>
                <a:latin typeface="Arial"/>
              </a:rPr>
              <a:t>المصادقة على خارطة الطريق ومؤشرات الأداء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508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الحوكمة ليست قيداً على العمل،
بل الضمانة الوحيدة لاستدامته وكفاءته.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10362895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0">
                <a:solidFill>
                  <a:srgbClr val="B08D57"/>
                </a:solidFill>
                <a:latin typeface="Arial"/>
              </a:rPr>
              <a:t>لسنا بصدد معالجة أخطاء فردية، بل مأسسة وظيفة حيوية تحوّل المشتريات من حلقة ضعف إلى ميزة تنافسية.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10362895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 lIns="101600" rIns="101600" tIns="50800" bIns="508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0">
                <a:solidFill>
                  <a:srgbClr val="F4F1EA"/>
                </a:solidFill>
                <a:latin typeface="Arial"/>
              </a:rPr>
              <a:t>شكراً لحُسن إصغائكم — وفريق المشتريات جاهز للتنفيذ فور الاعتماد.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